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  <p:sldMasterId id="2147483675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6858000" cy="9144000"/>
  <p:embeddedFontLst>
    <p:embeddedFont>
      <p:font typeface="Roboto Condensed" panose="02000000000000000000" pitchFamily="2" charset="0"/>
      <p:regular r:id="rId18"/>
      <p:bold r:id="rId19"/>
      <p:italic r:id="rId20"/>
      <p:boldItalic r:id="rId21"/>
    </p:embeddedFont>
    <p:embeddedFont>
      <p:font typeface="Roboto Condensed Light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8543f16b6_2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6" name="Google Shape;116;g3f8543f16b6_2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8543f16b6_4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3f8543f16b6_4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8543f16b6_2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Descripción de Proyectos (10 minutos)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Descripción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Objetivos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Fase Actual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Aplicaciones en la Industria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Destacar el impacto potencial del proyecto en el sector industrial guatemalteco.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9" name="Google Shape;129;g3f8543f16b6_2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8543f16b6_4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Descripción de Proyectos (10 minutos)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Descripción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Objetivos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Fase Actual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Aplicaciones en la Industria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Destacar el impacto potencial del proyecto en el sector industrial guatemalteco.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4" name="Google Shape;134;g3f8543f16b6_4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8543f16b6_4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Descripción de Proyectos (10 minutos)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Descripción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Objetivos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Fase Actual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Aplicaciones en la Industria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Destacar el impacto potencial del proyecto en el sector industrial guatemalteco.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9" name="Google Shape;139;g3f8543f16b6_4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8543f16b6_4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Descripción de Proyectos (10 minutos)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Descripción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Objetivos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Fase Actual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Aplicaciones en la Industria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Destacar el impacto potencial del proyecto en el sector industrial guatemalteco.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g3f8543f16b6_4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8543f16b6_2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f8543f16b6_2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Roboto Condensed"/>
              <a:buNone/>
              <a:defRPr sz="5200" b="1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 type="obj">
  <p:cSld name="OBJEC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title"/>
          </p:nvPr>
        </p:nvSpPr>
        <p:spPr>
          <a:xfrm>
            <a:off x="628650" y="622169"/>
            <a:ext cx="7487700" cy="6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487700" cy="30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dt" idx="10"/>
          </p:nvPr>
        </p:nvSpPr>
        <p:spPr>
          <a:xfrm>
            <a:off x="628650" y="4717771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ftr" idx="11"/>
          </p:nvPr>
        </p:nvSpPr>
        <p:spPr>
          <a:xfrm>
            <a:off x="3028950" y="4724841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sldNum" idx="12"/>
          </p:nvPr>
        </p:nvSpPr>
        <p:spPr>
          <a:xfrm>
            <a:off x="6457950" y="469656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body" idx="1"/>
          </p:nvPr>
        </p:nvSpPr>
        <p:spPr>
          <a:xfrm>
            <a:off x="311700" y="8476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6" name="Google Shape;86;p2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7" name="Google Shape;87;p20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4" name="Google Shape;94;p2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2" name="Google Shape;102;p2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3" name="Google Shape;103;p24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5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talmente blanco">
  <p:cSld name="BLANK_1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108" name="Google Shape;108;p26"/>
          <p:cNvSpPr/>
          <p:nvPr/>
        </p:nvSpPr>
        <p:spPr>
          <a:xfrm>
            <a:off x="0" y="4193375"/>
            <a:ext cx="8805300" cy="99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>
  <p:cSld name="Título y objetos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>
            <a:spLocks noGrp="1"/>
          </p:cNvSpPr>
          <p:nvPr>
            <p:ph type="sldNum" idx="12"/>
          </p:nvPr>
        </p:nvSpPr>
        <p:spPr>
          <a:xfrm>
            <a:off x="86329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 1">
  <p:cSld name="SECTION_HEADER_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3" name="Google Shape;113;p28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image" Target="../media/image2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Condensed"/>
              <a:buNone/>
              <a:defRPr sz="2800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8476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Condensed"/>
              <a:buChar char="●"/>
              <a:defRPr sz="18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Condensed"/>
              <a:buChar char="○"/>
              <a:defRPr sz="14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Condensed"/>
              <a:buChar char="■"/>
              <a:defRPr sz="14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Condensed"/>
              <a:buChar char="●"/>
              <a:defRPr sz="14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Condensed"/>
              <a:buChar char="○"/>
              <a:defRPr sz="14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Condensed"/>
              <a:buChar char="■"/>
              <a:defRPr sz="14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Condensed"/>
              <a:buChar char="●"/>
              <a:defRPr sz="14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Condensed"/>
              <a:buChar char="○"/>
              <a:defRPr sz="14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 Condensed"/>
              <a:buChar char="■"/>
              <a:defRPr sz="1400" b="0" i="0" u="none" strike="noStrike" cap="none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-7975" y="4477875"/>
            <a:ext cx="9217200" cy="700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1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pSp>
        <p:nvGrpSpPr>
          <p:cNvPr id="55" name="Google Shape;55;p13"/>
          <p:cNvGrpSpPr/>
          <p:nvPr/>
        </p:nvGrpSpPr>
        <p:grpSpPr>
          <a:xfrm>
            <a:off x="81250" y="4541638"/>
            <a:ext cx="2808811" cy="572686"/>
            <a:chOff x="5050" y="4508125"/>
            <a:chExt cx="3116400" cy="635400"/>
          </a:xfrm>
        </p:grpSpPr>
        <p:sp>
          <p:nvSpPr>
            <p:cNvPr id="56" name="Google Shape;56;p13"/>
            <p:cNvSpPr/>
            <p:nvPr/>
          </p:nvSpPr>
          <p:spPr>
            <a:xfrm>
              <a:off x="5050" y="4508125"/>
              <a:ext cx="3116400" cy="6354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pic>
          <p:nvPicPr>
            <p:cNvPr id="57" name="Google Shape;57;p13"/>
            <p:cNvPicPr preferRelativeResize="0"/>
            <p:nvPr/>
          </p:nvPicPr>
          <p:blipFill rotWithShape="1">
            <a:blip r:embed="rId17">
              <a:alphaModFix/>
            </a:blip>
            <a:srcRect/>
            <a:stretch/>
          </p:blipFill>
          <p:spPr>
            <a:xfrm>
              <a:off x="86313" y="4578888"/>
              <a:ext cx="2953875" cy="4938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8" name="Google Shape;58;p13" title="Logo Galileo.jp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7616493" y="4541625"/>
            <a:ext cx="1404657" cy="57269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6898" y="3008725"/>
            <a:ext cx="4310200" cy="84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9"/>
          <p:cNvSpPr txBox="1"/>
          <p:nvPr/>
        </p:nvSpPr>
        <p:spPr>
          <a:xfrm>
            <a:off x="832800" y="289325"/>
            <a:ext cx="7478400" cy="27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s" sz="4100" b="1" dirty="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Arduino + Labview = Instrumentación virtual Low cost</a:t>
            </a:r>
            <a:br>
              <a:rPr lang="es" sz="4100" b="1" dirty="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br>
              <a:rPr lang="es" sz="4100" b="1" dirty="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s" sz="4100" b="1" dirty="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Pablo López</a:t>
            </a:r>
            <a:endParaRPr sz="4100" b="1" dirty="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0"/>
          <p:cNvSpPr txBox="1">
            <a:spLocks noGrp="1"/>
          </p:cNvSpPr>
          <p:nvPr>
            <p:ph type="title"/>
          </p:nvPr>
        </p:nvSpPr>
        <p:spPr>
          <a:xfrm>
            <a:off x="628650" y="410394"/>
            <a:ext cx="7487700" cy="6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6000"/>
              <a:t>AGENDA</a:t>
            </a:r>
            <a:endParaRPr sz="6000"/>
          </a:p>
        </p:txBody>
      </p:sp>
      <p:sp>
        <p:nvSpPr>
          <p:cNvPr id="125" name="Google Shape;125;p30"/>
          <p:cNvSpPr txBox="1">
            <a:spLocks noGrp="1"/>
          </p:cNvSpPr>
          <p:nvPr>
            <p:ph type="body" idx="1"/>
          </p:nvPr>
        </p:nvSpPr>
        <p:spPr>
          <a:xfrm>
            <a:off x="628650" y="1369225"/>
            <a:ext cx="7887600" cy="30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Font typeface="Arial"/>
              <a:buChar char="●"/>
            </a:pPr>
            <a:r>
              <a:rPr lang="e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problema a resolver…</a:t>
            </a:r>
            <a:endParaRPr sz="3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solución a implementar…</a:t>
            </a:r>
            <a:endParaRPr sz="3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DEMO</a:t>
            </a:r>
            <a:endParaRPr sz="3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Preguntas &amp; Comentarios</a:t>
            </a:r>
            <a:endParaRPr sz="3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0"/>
          <p:cNvSpPr txBox="1">
            <a:spLocks noGrp="1"/>
          </p:cNvSpPr>
          <p:nvPr>
            <p:ph type="sldNum" idx="12"/>
          </p:nvPr>
        </p:nvSpPr>
        <p:spPr>
          <a:xfrm>
            <a:off x="6457950" y="469656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fld id="{00000000-1234-1234-1234-123412341234}" type="slidenum">
              <a:rPr lang="e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" sz="6600"/>
              <a:t>El problema a resolver…</a:t>
            </a:r>
            <a:endParaRPr sz="6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0"/>
          <p:cNvSpPr txBox="1">
            <a:spLocks noGrp="1"/>
          </p:cNvSpPr>
          <p:nvPr>
            <p:ph type="title"/>
          </p:nvPr>
        </p:nvSpPr>
        <p:spPr>
          <a:xfrm>
            <a:off x="628650" y="410394"/>
            <a:ext cx="7487700" cy="6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4000"/>
              <a:t>Cuánto cuesta medir</a:t>
            </a:r>
            <a:endParaRPr sz="4000"/>
          </a:p>
        </p:txBody>
      </p:sp>
      <p:sp>
        <p:nvSpPr>
          <p:cNvPr id="902" name="Pie"/>
          <p:cNvSpPr txBox="1"/>
          <p:nvPr/>
        </p:nvSpPr>
        <p:spPr>
          <a:xfrm>
            <a:off x="628650" y="3330000"/>
            <a:ext cx="37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Osciloscopio de mesa</a:t>
            </a:r>
          </a:p>
        </p:txBody>
      </p:sp>
      <p:sp>
        <p:nvSpPr>
          <p:cNvPr id="903" name="Precio"/>
          <p:cNvSpPr txBox="1"/>
          <p:nvPr/>
        </p:nvSpPr>
        <p:spPr>
          <a:xfrm>
            <a:off x="628650" y="3800000"/>
            <a:ext cx="370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" sz="2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200 – 400</a:t>
            </a:r>
            <a:r>
              <a:rPr lang="es" sz="2800" b="1" dirty="0"/>
              <a:t> US$ </a:t>
            </a:r>
            <a:endParaRPr lang="es" sz="28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Pie"/>
          <p:cNvSpPr txBox="1"/>
          <p:nvPr/>
        </p:nvSpPr>
        <p:spPr>
          <a:xfrm>
            <a:off x="4815350" y="3330000"/>
            <a:ext cx="37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Generador de funciones</a:t>
            </a:r>
          </a:p>
        </p:txBody>
      </p:sp>
      <p:sp>
        <p:nvSpPr>
          <p:cNvPr id="906" name="Precio"/>
          <p:cNvSpPr txBox="1"/>
          <p:nvPr/>
        </p:nvSpPr>
        <p:spPr>
          <a:xfrm>
            <a:off x="4815350" y="3800000"/>
            <a:ext cx="370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" sz="2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 – 300</a:t>
            </a:r>
            <a:r>
              <a:rPr lang="es" sz="2800" b="1" dirty="0"/>
              <a:t> US$ </a:t>
            </a:r>
            <a:endParaRPr lang="es" sz="28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928C560-EE13-68AF-0E65-09206362A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49" y="1180000"/>
            <a:ext cx="3201217" cy="2150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4F963A8-F702-7FFC-7D8D-83CA83B38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650" y="1372013"/>
            <a:ext cx="4382779" cy="19579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0"/>
          <p:cNvSpPr txBox="1">
            <a:spLocks noGrp="1"/>
          </p:cNvSpPr>
          <p:nvPr>
            <p:ph type="title"/>
          </p:nvPr>
        </p:nvSpPr>
        <p:spPr>
          <a:xfrm>
            <a:off x="628650" y="410394"/>
            <a:ext cx="7487700" cy="6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/>
            <a:r>
              <a:rPr lang="es" sz="4000" dirty="0"/>
              <a:t>Y lo mismo, en15 </a:t>
            </a:r>
            <a:r>
              <a:rPr lang="es" sz="4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US$ </a:t>
            </a:r>
            <a:endParaRPr sz="4000" dirty="0"/>
          </a:p>
        </p:txBody>
      </p:sp>
      <p:sp>
        <p:nvSpPr>
          <p:cNvPr id="908" name="Pie"/>
          <p:cNvSpPr txBox="1"/>
          <p:nvPr/>
        </p:nvSpPr>
        <p:spPr>
          <a:xfrm>
            <a:off x="628650" y="3330000"/>
            <a:ext cx="37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DAQ de 8 canales</a:t>
            </a:r>
          </a:p>
        </p:txBody>
      </p:sp>
      <p:sp>
        <p:nvSpPr>
          <p:cNvPr id="909" name="Precio"/>
          <p:cNvSpPr txBox="1"/>
          <p:nvPr/>
        </p:nvSpPr>
        <p:spPr>
          <a:xfrm>
            <a:off x="628650" y="3800000"/>
            <a:ext cx="370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 – 300 US$</a:t>
            </a:r>
          </a:p>
        </p:txBody>
      </p:sp>
      <p:sp>
        <p:nvSpPr>
          <p:cNvPr id="911" name="Pie"/>
          <p:cNvSpPr txBox="1"/>
          <p:nvPr/>
        </p:nvSpPr>
        <p:spPr>
          <a:xfrm>
            <a:off x="4815350" y="3330000"/>
            <a:ext cx="37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ESP32 + protoboard + sensores</a:t>
            </a:r>
          </a:p>
        </p:txBody>
      </p:sp>
      <p:sp>
        <p:nvSpPr>
          <p:cNvPr id="912" name="Precio"/>
          <p:cNvSpPr txBox="1"/>
          <p:nvPr/>
        </p:nvSpPr>
        <p:spPr>
          <a:xfrm>
            <a:off x="4815350" y="3800000"/>
            <a:ext cx="370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" sz="2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– 1</a:t>
            </a:r>
            <a:r>
              <a:rPr lang="es" sz="2800" b="1" dirty="0"/>
              <a:t>5 US$ </a:t>
            </a:r>
            <a:endParaRPr lang="es" sz="28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AB7A094-3BD1-0AD3-B5D9-0EFC84C69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98" y="1343500"/>
            <a:ext cx="3976925" cy="162715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021603F-5FC0-A724-B5F7-29886B7B7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5350" y="1243339"/>
            <a:ext cx="3514375" cy="18274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0"/>
          <p:cNvSpPr txBox="1">
            <a:spLocks noGrp="1"/>
          </p:cNvSpPr>
          <p:nvPr>
            <p:ph type="title"/>
          </p:nvPr>
        </p:nvSpPr>
        <p:spPr>
          <a:xfrm>
            <a:off x="628650" y="410394"/>
            <a:ext cx="7487700" cy="6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4000"/>
              <a:t>Hasta dónde llega</a:t>
            </a:r>
            <a:endParaRPr sz="4000"/>
          </a:p>
        </p:txBody>
      </p:sp>
      <p:sp>
        <p:nvSpPr>
          <p:cNvPr id="913" name="Columna"/>
          <p:cNvSpPr txBox="1"/>
          <p:nvPr/>
        </p:nvSpPr>
        <p:spPr>
          <a:xfrm>
            <a:off x="628650" y="1150000"/>
            <a:ext cx="3700000" cy="2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 dirty="0"/>
              <a:t>Nos s</a:t>
            </a:r>
            <a:r>
              <a:rPr lang="es" sz="16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irve muy bien, para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" sz="16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Señales lentas: temperatura, luz, presión, posición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"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Enseñar adquisición y control sin comprar un laboratorio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"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Prototipos y pruebas de concepto</a:t>
            </a:r>
          </a:p>
        </p:txBody>
      </p:sp>
      <p:sp>
        <p:nvSpPr>
          <p:cNvPr id="914" name="Columna"/>
          <p:cNvSpPr txBox="1"/>
          <p:nvPr/>
        </p:nvSpPr>
        <p:spPr>
          <a:xfrm>
            <a:off x="4815350" y="1150000"/>
            <a:ext cx="3700000" cy="2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sustituye a un equipo real en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" sz="16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Audio, vibración o cualquier señal rápida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"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Medición de precisión, trazable o certificada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" sz="1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ADC del ESP32 no es lineal y es propenso a ruidos: hay que calibrarlo</a:t>
            </a:r>
          </a:p>
        </p:txBody>
      </p:sp>
      <p:sp>
        <p:nvSpPr>
          <p:cNvPr id="915" name="Cierre"/>
          <p:cNvSpPr txBox="1"/>
          <p:nvPr/>
        </p:nvSpPr>
        <p:spPr>
          <a:xfrm>
            <a:off x="628650" y="3280000"/>
            <a:ext cx="78867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Nunca va a ser un osciloscopio de calidad</a:t>
            </a:r>
            <a:r>
              <a:rPr lang="es" sz="1300" b="1" dirty="0"/>
              <a:t>.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Pero para educación y prototipado</a:t>
            </a:r>
            <a:r>
              <a:rPr lang="es" sz="1300" b="1" dirty="0"/>
              <a:t> es muy util </a:t>
            </a:r>
            <a:endParaRPr lang="es" sz="13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" sz="5800"/>
              <a:t>La solución a implementar…</a:t>
            </a:r>
            <a:endParaRPr sz="5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0"/>
          <p:cNvSpPr txBox="1">
            <a:spLocks noGrp="1"/>
          </p:cNvSpPr>
          <p:nvPr>
            <p:ph type="title"/>
          </p:nvPr>
        </p:nvSpPr>
        <p:spPr>
          <a:xfrm>
            <a:off x="628650" y="410394"/>
            <a:ext cx="7487700" cy="6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4000"/>
              <a:t>El protocolo</a:t>
            </a:r>
            <a:endParaRPr sz="4000"/>
          </a:p>
        </p:txBody>
      </p:sp>
      <p:sp>
        <p:nvSpPr>
          <p:cNvPr id="125" name="Google Shape;125;p30"/>
          <p:cNvSpPr txBox="1">
            <a:spLocks noGrp="1"/>
          </p:cNvSpPr>
          <p:nvPr>
            <p:ph type="body" idx="1"/>
          </p:nvPr>
        </p:nvSpPr>
        <p:spPr>
          <a:xfrm>
            <a:off x="628650" y="1369225"/>
            <a:ext cx="7887600" cy="30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LabVIEW  =&gt; VISA serial =&gt; 0x01 [pin][valor]  =&gt; ESP32</a:t>
            </a:r>
            <a:endParaRPr sz="20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LabVIEW  &lt;=  'A' 'A'</a:t>
            </a:r>
            <a:endParaRPr sz="20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byte de comando, sus parámetros, y siempre dos bytes de respuesta.</a:t>
            </a:r>
            <a:endParaRPr sz="20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Eso es todo el protocolo, se mantiene lo suficientemente simple</a:t>
            </a:r>
            <a:endParaRPr sz="20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0"/>
          <p:cNvSpPr txBox="1">
            <a:spLocks noGrp="1"/>
          </p:cNvSpPr>
          <p:nvPr>
            <p:ph type="title"/>
          </p:nvPr>
        </p:nvSpPr>
        <p:spPr>
          <a:xfrm>
            <a:off x="628650" y="410394"/>
            <a:ext cx="7487700" cy="6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4000"/>
              <a:t>Cualquier placa</a:t>
            </a:r>
            <a:endParaRPr sz="4000"/>
          </a:p>
        </p:txBody>
      </p:sp>
      <p:sp>
        <p:nvSpPr>
          <p:cNvPr id="125" name="Google Shape;125;p30"/>
          <p:cNvSpPr txBox="1">
            <a:spLocks noGrp="1"/>
          </p:cNvSpPr>
          <p:nvPr>
            <p:ph type="body" idx="1"/>
          </p:nvPr>
        </p:nvSpPr>
        <p:spPr>
          <a:xfrm>
            <a:off x="628650" y="1369225"/>
            <a:ext cx="7887600" cy="30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s" sz="1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firmware.ino, el protocolo se flashea UNA sola vez</a:t>
            </a:r>
            <a:endParaRPr sz="19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s" sz="1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lv_hal.h, barrera de abstraccion para que sepa cómo se hace esto en esta arquitectura</a:t>
            </a:r>
            <a:endParaRPr sz="19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s" sz="1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ESP32 · AVR · STM32 (proximamente) </a:t>
            </a:r>
            <a:endParaRPr sz="19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s" sz="1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ADC siempre responde 0..4095: en AVR es de 10 bits y se escala en el firmware, no en LabVIEW.</a:t>
            </a:r>
            <a:endParaRPr sz="19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s" sz="1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protocolo se escribe una vez. </a:t>
            </a:r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s" sz="1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Cambiar de placa no cambia ni un VI.</a:t>
            </a:r>
            <a:endParaRPr sz="19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0"/>
          <p:cNvSpPr txBox="1">
            <a:spLocks noGrp="1"/>
          </p:cNvSpPr>
          <p:nvPr>
            <p:ph type="title"/>
          </p:nvPr>
        </p:nvSpPr>
        <p:spPr>
          <a:xfrm>
            <a:off x="628650" y="410394"/>
            <a:ext cx="7487700" cy="6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4000"/>
              <a:t>Cómo se extiende</a:t>
            </a:r>
            <a:endParaRPr sz="4000"/>
          </a:p>
        </p:txBody>
      </p:sp>
      <p:sp>
        <p:nvSpPr>
          <p:cNvPr id="125" name="Google Shape;125;p30"/>
          <p:cNvSpPr txBox="1">
            <a:spLocks noGrp="1"/>
          </p:cNvSpPr>
          <p:nvPr>
            <p:ph type="body" idx="1"/>
          </p:nvPr>
        </p:nvSpPr>
        <p:spPr>
          <a:xfrm>
            <a:off x="628650" y="1369225"/>
            <a:ext cx="7887600" cy="30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s" sz="1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 una tarjeta = 5 líneas en el catálogo de lv_core.py</a:t>
            </a:r>
            <a:endParaRPr sz="19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s" sz="1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 una función = un case en el firmware y su VI</a:t>
            </a:r>
            <a:endParaRPr sz="19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s" sz="1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Ya trae: digital, analógico, DAC, PWM, servo, NeoPixel, LCD I2C, ESP-NOW y reportes TDMS</a:t>
            </a:r>
            <a:endParaRPr sz="19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s" sz="1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Open Source, esta en GitHub, proximamente en VI Package Manager.</a:t>
            </a:r>
            <a:endParaRPr sz="19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s" sz="1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compilar y cargar usamos arduino-cli, embebido en el proyecto.</a:t>
            </a:r>
            <a:endParaRPr sz="19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3"/>
          <p:cNvSpPr txBox="1">
            <a:spLocks noGrp="1"/>
          </p:cNvSpPr>
          <p:nvPr>
            <p:ph type="ctrTitle"/>
          </p:nvPr>
        </p:nvSpPr>
        <p:spPr>
          <a:xfrm>
            <a:off x="311701" y="744575"/>
            <a:ext cx="369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" sz="8000"/>
              <a:t>DEMO</a:t>
            </a:r>
            <a:endParaRPr sz="8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0"/>
          <p:cNvSpPr txBox="1">
            <a:spLocks noGrp="1"/>
          </p:cNvSpPr>
          <p:nvPr>
            <p:ph type="title"/>
          </p:nvPr>
        </p:nvSpPr>
        <p:spPr>
          <a:xfrm>
            <a:off x="628650" y="410394"/>
            <a:ext cx="7487700" cy="6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4000"/>
              <a:t>La demo: cuatro actos</a:t>
            </a:r>
            <a:endParaRPr sz="4000"/>
          </a:p>
        </p:txBody>
      </p:sp>
      <p:sp>
        <p:nvSpPr>
          <p:cNvPr id="125" name="Google Shape;125;p30"/>
          <p:cNvSpPr txBox="1">
            <a:spLocks noGrp="1"/>
          </p:cNvSpPr>
          <p:nvPr>
            <p:ph type="body" idx="1"/>
          </p:nvPr>
        </p:nvSpPr>
        <p:spPr>
          <a:xfrm>
            <a:off x="628650" y="1369225"/>
            <a:ext cx="7887600" cy="30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s-ES" sz="1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Flashear Firmware en diferentes placas usando el mismo VI de instalación:</a:t>
            </a:r>
          </a:p>
          <a:p>
            <a:pPr lvl="1" indent="-431800">
              <a:spcBef>
                <a:spcPts val="800"/>
              </a:spcBef>
              <a:buSzPts val="3200"/>
              <a:buFont typeface="Arial"/>
              <a:buChar char="●"/>
            </a:pPr>
            <a:r>
              <a:rPr lang="it-IT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Arduino Uno</a:t>
            </a:r>
          </a:p>
          <a:p>
            <a:pPr lvl="1" indent="-431800">
              <a:spcBef>
                <a:spcPts val="800"/>
              </a:spcBef>
              <a:buSzPts val="3200"/>
              <a:buFont typeface="Arial"/>
              <a:buChar char="●"/>
            </a:pPr>
            <a:r>
              <a:rPr lang="it-IT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Arduino Nano </a:t>
            </a:r>
          </a:p>
          <a:p>
            <a:pPr lvl="1" indent="-431800">
              <a:spcBef>
                <a:spcPts val="800"/>
              </a:spcBef>
              <a:buSzPts val="3200"/>
              <a:buFont typeface="Arial"/>
              <a:buChar char="●"/>
            </a:pPr>
            <a:r>
              <a:rPr lang="it-IT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ESP32 Wrover IE</a:t>
            </a:r>
            <a:endParaRPr lang="es-ES" sz="19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s-ES" sz="1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Demo de </a:t>
            </a:r>
            <a:r>
              <a:rPr lang="es-ES" sz="19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Neopixeles</a:t>
            </a:r>
            <a:r>
              <a:rPr lang="es-ES" sz="1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s-ES" sz="1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Demo de maquina de estados con </a:t>
            </a:r>
            <a:r>
              <a:rPr lang="es-ES" sz="19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LEDs</a:t>
            </a:r>
            <a:r>
              <a:rPr lang="es-ES" sz="1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 Servo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lang="es-ES" sz="1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Demo Osciloscopio y Generador 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endParaRPr lang="es-ES" sz="19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endParaRPr sz="19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4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25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" sz="7000"/>
              <a:t>Preguntas &amp; </a:t>
            </a:r>
            <a:br>
              <a:rPr lang="es" sz="7000"/>
            </a:br>
            <a:r>
              <a:rPr lang="es" sz="7000"/>
              <a:t>Comentarios</a:t>
            </a:r>
            <a:endParaRPr sz="7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5"/>
          <p:cNvSpPr txBox="1">
            <a:spLocks noGrp="1"/>
          </p:cNvSpPr>
          <p:nvPr>
            <p:ph type="sldNum" idx="12"/>
          </p:nvPr>
        </p:nvSpPr>
        <p:spPr>
          <a:xfrm>
            <a:off x="86248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fld id="{00000000-1234-1234-1234-123412341234}" type="slidenum">
              <a:rPr lang="es" sz="2200">
                <a:solidFill>
                  <a:srgbClr val="EFEFE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14</a:t>
            </a:fld>
            <a:endParaRPr sz="2200">
              <a:solidFill>
                <a:srgbClr val="EFEFEF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152" name="Google Shape;152;p35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5708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5000"/>
              <a:t>Contacto</a:t>
            </a:r>
            <a:endParaRPr sz="5000"/>
          </a:p>
        </p:txBody>
      </p:sp>
      <p:sp>
        <p:nvSpPr>
          <p:cNvPr id="153" name="Google Shape;153;p35"/>
          <p:cNvSpPr txBox="1">
            <a:spLocks noGrp="1"/>
          </p:cNvSpPr>
          <p:nvPr>
            <p:ph type="body" idx="1"/>
          </p:nvPr>
        </p:nvSpPr>
        <p:spPr>
          <a:xfrm>
            <a:off x="311700" y="1193425"/>
            <a:ext cx="3690600" cy="29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3200" b="1" dirty="0"/>
              <a:t>Pablo López</a:t>
            </a:r>
            <a:endParaRPr lang="es-GT" sz="2700" dirty="0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s" sz="3200" b="1" dirty="0"/>
              <a:t>IG:</a:t>
            </a:r>
            <a:endParaRPr lang="es-GT" sz="3200" b="1" dirty="0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s" sz="2400" b="1" dirty="0"/>
              <a:t>github.com/PabloJLM/LV_ESP32</a:t>
            </a:r>
            <a:br>
              <a:rPr lang="es" sz="2400" b="1" dirty="0"/>
            </a:br>
            <a:r>
              <a:rPr lang="es" sz="2400" b="1" dirty="0"/>
              <a:t>pablo.lopezmazariegos@galileo.edu</a:t>
            </a:r>
            <a:endParaRPr sz="3500" b="1" dirty="0"/>
          </a:p>
        </p:txBody>
      </p:sp>
      <p:sp>
        <p:nvSpPr>
          <p:cNvPr id="154" name="Google Shape;154;p35"/>
          <p:cNvSpPr txBox="1">
            <a:spLocks noGrp="1"/>
          </p:cNvSpPr>
          <p:nvPr>
            <p:ph type="body" idx="1"/>
          </p:nvPr>
        </p:nvSpPr>
        <p:spPr>
          <a:xfrm>
            <a:off x="4572000" y="1014775"/>
            <a:ext cx="4393200" cy="29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" sz="4900" b="1"/>
              <a:t>TESLA LAB</a:t>
            </a:r>
            <a:endParaRPr sz="4400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s" sz="3200"/>
              <a:t>IG: @tesla_lab_guatemala</a:t>
            </a:r>
            <a:endParaRPr sz="3200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lang="es" sz="3000"/>
              <a:t>tesla.galileo.edu</a:t>
            </a:r>
            <a:br>
              <a:rPr lang="es" sz="3000"/>
            </a:br>
            <a:r>
              <a:rPr lang="es" sz="3000"/>
              <a:t>tesla@galileo.edu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UGAL - 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572</Words>
  <Application>Microsoft Office PowerPoint</Application>
  <PresentationFormat>Presentación en pantalla (16:9)</PresentationFormat>
  <Paragraphs>100</Paragraphs>
  <Slides>14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Roboto Condensed</vt:lpstr>
      <vt:lpstr>Arial</vt:lpstr>
      <vt:lpstr>Roboto Condensed Light</vt:lpstr>
      <vt:lpstr>Simple Light</vt:lpstr>
      <vt:lpstr>UGAL - Simple Light</vt:lpstr>
      <vt:lpstr>Presentación de PowerPoint</vt:lpstr>
      <vt:lpstr>AGENDA</vt:lpstr>
      <vt:lpstr>El problema a resolver…</vt:lpstr>
      <vt:lpstr>Cuánto cuesta medir</vt:lpstr>
      <vt:lpstr>Y lo mismo, en15 US$ </vt:lpstr>
      <vt:lpstr>Hasta dónde llega</vt:lpstr>
      <vt:lpstr>La solución a implementar…</vt:lpstr>
      <vt:lpstr>El protocolo</vt:lpstr>
      <vt:lpstr>Cualquier placa</vt:lpstr>
      <vt:lpstr>Cómo se extiende</vt:lpstr>
      <vt:lpstr>DEMO</vt:lpstr>
      <vt:lpstr>La demo: cuatro actos</vt:lpstr>
      <vt:lpstr>Preguntas &amp;  Comentarios</vt:lpstr>
      <vt:lpstr>Contacto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Pablo Jose L?pez Mazariegos</cp:lastModifiedBy>
  <cp:revision>2</cp:revision>
  <dcterms:modified xsi:type="dcterms:W3CDTF">2026-08-28T06:07:34Z</dcterms:modified>
</cp:coreProperties>
</file>