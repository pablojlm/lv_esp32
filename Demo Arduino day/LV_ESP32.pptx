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  <p:sldMasterId id="2147483691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Roboto Condensed" panose="02000000000000000000" pitchFamily="2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40c9cfedb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g3f40c9cfedb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40c9cfedb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f40c9cfedb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40c9cfedb_2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g3f40c9cfedb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40c9cfedb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f40c9cfedb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0c9cfedb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f40c9cfedb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40c9cfedb_2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f40c9cfedb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0c9cfedb_2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" name="Google Shape;228;g3f40c9cfedb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40c9cfedb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f40c9cfedb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40c9cfedb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f40c9cfedb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40c9cfedb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40c9cfedb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40c9cfedb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f40c9cfedb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40c9cfedb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f40c9cfedb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40c9cfedb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g3f40c9cfedb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8543f16b6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f8543f16b6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Condensed"/>
              <a:buNone/>
              <a:defRPr sz="52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628650" y="622169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4877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628650" y="471777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028950" y="472484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457950" y="469656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talmente blanco">
  <p:cSld name="BLANK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08" name="Google Shape;108;p26"/>
          <p:cNvSpPr/>
          <p:nvPr/>
        </p:nvSpPr>
        <p:spPr>
          <a:xfrm>
            <a:off x="0" y="4193375"/>
            <a:ext cx="8805300" cy="9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6329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Condensed"/>
              <a:buNone/>
              <a:defRPr sz="52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OBJEC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628650" y="622169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4877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dt" idx="10"/>
          </p:nvPr>
        </p:nvSpPr>
        <p:spPr>
          <a:xfrm>
            <a:off x="628650" y="471777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ftr" idx="11"/>
          </p:nvPr>
        </p:nvSpPr>
        <p:spPr>
          <a:xfrm>
            <a:off x="3028950" y="472484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sldNum" idx="12"/>
          </p:nvPr>
        </p:nvSpPr>
        <p:spPr>
          <a:xfrm>
            <a:off x="6457950" y="469656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4" name="Google Shape;144;p34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0" name="Google Shape;150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6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4" name="Google Shape;154;p37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9" name="Google Shape;159;p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6" name="Google Shape;166;p4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40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talmente blanco">
  <p:cSld name="BLANK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2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72" name="Google Shape;172;p42"/>
          <p:cNvSpPr/>
          <p:nvPr/>
        </p:nvSpPr>
        <p:spPr>
          <a:xfrm>
            <a:off x="0" y="4193375"/>
            <a:ext cx="8805300" cy="9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3"/>
          <p:cNvSpPr txBox="1">
            <a:spLocks noGrp="1"/>
          </p:cNvSpPr>
          <p:nvPr>
            <p:ph type="sldNum" idx="12"/>
          </p:nvPr>
        </p:nvSpPr>
        <p:spPr>
          <a:xfrm>
            <a:off x="86329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"/>
              <a:buNone/>
              <a:defRPr sz="2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Condensed"/>
              <a:buChar char="●"/>
              <a:defRPr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●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●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-7975" y="4477875"/>
            <a:ext cx="9217200" cy="70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81250" y="4541638"/>
            <a:ext cx="2808811" cy="572686"/>
            <a:chOff x="5050" y="4508125"/>
            <a:chExt cx="3116400" cy="635400"/>
          </a:xfrm>
        </p:grpSpPr>
        <p:sp>
          <p:nvSpPr>
            <p:cNvPr id="56" name="Google Shape;56;p13"/>
            <p:cNvSpPr/>
            <p:nvPr/>
          </p:nvSpPr>
          <p:spPr>
            <a:xfrm>
              <a:off x="5050" y="4508125"/>
              <a:ext cx="3116400" cy="635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86313" y="4578888"/>
              <a:ext cx="2953875" cy="493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13" title="Logo Galileo.jp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616493" y="4541625"/>
            <a:ext cx="1404657" cy="5726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"/>
              <a:buNone/>
              <a:defRPr sz="2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Condensed"/>
              <a:buChar char="●"/>
              <a:defRPr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●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●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-7975" y="4477875"/>
            <a:ext cx="9217200" cy="70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19" name="Google Shape;119;p29"/>
          <p:cNvGrpSpPr/>
          <p:nvPr/>
        </p:nvGrpSpPr>
        <p:grpSpPr>
          <a:xfrm>
            <a:off x="81250" y="4541638"/>
            <a:ext cx="2808811" cy="572686"/>
            <a:chOff x="5050" y="4508125"/>
            <a:chExt cx="3116400" cy="635400"/>
          </a:xfrm>
        </p:grpSpPr>
        <p:sp>
          <p:nvSpPr>
            <p:cNvPr id="120" name="Google Shape;120;p29"/>
            <p:cNvSpPr/>
            <p:nvPr/>
          </p:nvSpPr>
          <p:spPr>
            <a:xfrm>
              <a:off x="5050" y="4508125"/>
              <a:ext cx="3116400" cy="635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pic>
          <p:nvPicPr>
            <p:cNvPr id="121" name="Google Shape;121;p29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86313" y="4578888"/>
              <a:ext cx="2953875" cy="493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2" name="Google Shape;122;p29" title="Logo Galileo.jp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616493" y="4541625"/>
            <a:ext cx="1404657" cy="5726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6898" y="3008725"/>
            <a:ext cx="4310200" cy="8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5"/>
          <p:cNvSpPr txBox="1"/>
          <p:nvPr/>
        </p:nvSpPr>
        <p:spPr>
          <a:xfrm>
            <a:off x="832800" y="289325"/>
            <a:ext cx="74784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" sz="4100" b="1" i="0" u="none" strike="noStrike" cap="none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Arduino + Labview = Instrumentación Virtual Low Cost</a:t>
            </a:r>
            <a:br>
              <a:rPr lang="es" sz="4100" b="1" i="0" u="none" strike="noStrike" cap="none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br>
              <a:rPr lang="es" sz="4100" b="1" i="0" u="none" strike="noStrike" cap="none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s" sz="4100" b="1" i="0" u="none" strike="noStrike" cap="none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Pablo López</a:t>
            </a:r>
            <a:endParaRPr sz="4100" b="1" i="0" u="none" strike="noStrike" cap="none" dirty="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6000"/>
              <a:t>AGENDA</a:t>
            </a:r>
            <a:endParaRPr sz="6000"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problema a resolver…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solución a implementar…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Preguntas &amp; Comentarios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6457950" y="469656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fld id="{00000000-1234-1234-1234-123412341234}" type="slidenum">
              <a:rPr lang="e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6600"/>
              <a:t>El problema a resolver…</a:t>
            </a:r>
            <a:endParaRPr sz="6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8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Cuánto cuesta medir</a:t>
            </a:r>
            <a:endParaRPr sz="4000"/>
          </a:p>
        </p:txBody>
      </p:sp>
      <p:sp>
        <p:nvSpPr>
          <p:cNvPr id="201" name="Google Shape;201;p48"/>
          <p:cNvSpPr txBox="1"/>
          <p:nvPr/>
        </p:nvSpPr>
        <p:spPr>
          <a:xfrm>
            <a:off x="6286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Osciloscopio de mesa</a:t>
            </a:r>
            <a:endParaRPr/>
          </a:p>
        </p:txBody>
      </p:sp>
      <p:sp>
        <p:nvSpPr>
          <p:cNvPr id="202" name="Google Shape;202;p48"/>
          <p:cNvSpPr txBox="1"/>
          <p:nvPr/>
        </p:nvSpPr>
        <p:spPr>
          <a:xfrm>
            <a:off x="6286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– 400 US$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8"/>
          <p:cNvSpPr txBox="1"/>
          <p:nvPr/>
        </p:nvSpPr>
        <p:spPr>
          <a:xfrm>
            <a:off x="48153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Generador de funciones</a:t>
            </a:r>
            <a:endParaRPr/>
          </a:p>
        </p:txBody>
      </p:sp>
      <p:sp>
        <p:nvSpPr>
          <p:cNvPr id="204" name="Google Shape;204;p48"/>
          <p:cNvSpPr txBox="1"/>
          <p:nvPr/>
        </p:nvSpPr>
        <p:spPr>
          <a:xfrm>
            <a:off x="48153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– 300 US$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49" y="1180000"/>
            <a:ext cx="3201217" cy="21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28650" y="1372013"/>
            <a:ext cx="4382779" cy="195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9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Y lo mismo, en15 </a:t>
            </a:r>
            <a:r>
              <a:rPr lang="e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US$ </a:t>
            </a:r>
            <a:endParaRPr sz="4000"/>
          </a:p>
        </p:txBody>
      </p:sp>
      <p:sp>
        <p:nvSpPr>
          <p:cNvPr id="212" name="Google Shape;212;p49"/>
          <p:cNvSpPr txBox="1"/>
          <p:nvPr/>
        </p:nvSpPr>
        <p:spPr>
          <a:xfrm>
            <a:off x="6286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DAQ de 8 canales</a:t>
            </a:r>
            <a:endParaRPr/>
          </a:p>
        </p:txBody>
      </p:sp>
      <p:sp>
        <p:nvSpPr>
          <p:cNvPr id="213" name="Google Shape;213;p49"/>
          <p:cNvSpPr txBox="1"/>
          <p:nvPr/>
        </p:nvSpPr>
        <p:spPr>
          <a:xfrm>
            <a:off x="6286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– 300 US$</a:t>
            </a:r>
            <a:endParaRPr/>
          </a:p>
        </p:txBody>
      </p:sp>
      <p:sp>
        <p:nvSpPr>
          <p:cNvPr id="214" name="Google Shape;214;p49"/>
          <p:cNvSpPr txBox="1"/>
          <p:nvPr/>
        </p:nvSpPr>
        <p:spPr>
          <a:xfrm>
            <a:off x="48153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 + protoboard + sensores</a:t>
            </a:r>
            <a:endParaRPr/>
          </a:p>
        </p:txBody>
      </p:sp>
      <p:sp>
        <p:nvSpPr>
          <p:cNvPr id="215" name="Google Shape;215;p49"/>
          <p:cNvSpPr txBox="1"/>
          <p:nvPr/>
        </p:nvSpPr>
        <p:spPr>
          <a:xfrm>
            <a:off x="48153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– 15 US$ 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198" y="1343500"/>
            <a:ext cx="3976925" cy="1627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5350" y="1243339"/>
            <a:ext cx="3514375" cy="18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Hasta dónde llega</a:t>
            </a:r>
            <a:endParaRPr sz="4000"/>
          </a:p>
        </p:txBody>
      </p:sp>
      <p:sp>
        <p:nvSpPr>
          <p:cNvPr id="223" name="Google Shape;223;p50"/>
          <p:cNvSpPr txBox="1"/>
          <p:nvPr/>
        </p:nvSpPr>
        <p:spPr>
          <a:xfrm>
            <a:off x="628650" y="1150000"/>
            <a:ext cx="3700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 sirve muy bien, para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Señales lentas: temperatura, luz, presión, posición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Enseñar adquisición y control sin comprar un laboratorio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Prototipos y pruebas de concepto</a:t>
            </a:r>
            <a:endParaRPr/>
          </a:p>
        </p:txBody>
      </p:sp>
      <p:sp>
        <p:nvSpPr>
          <p:cNvPr id="224" name="Google Shape;224;p50"/>
          <p:cNvSpPr txBox="1"/>
          <p:nvPr/>
        </p:nvSpPr>
        <p:spPr>
          <a:xfrm>
            <a:off x="4815350" y="1150000"/>
            <a:ext cx="3700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sustituye a un equipo real 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Audio, vibración o cualquier señal rápida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Medición de precisión, trazable o certificada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ADC del ESP32 no es lineal y es propenso a ruidos: hay que calibrarlo</a:t>
            </a:r>
            <a:endParaRPr/>
          </a:p>
        </p:txBody>
      </p:sp>
      <p:sp>
        <p:nvSpPr>
          <p:cNvPr id="225" name="Google Shape;225;p50"/>
          <p:cNvSpPr txBox="1"/>
          <p:nvPr/>
        </p:nvSpPr>
        <p:spPr>
          <a:xfrm>
            <a:off x="628650" y="3280000"/>
            <a:ext cx="78867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va a ser un osciloscopio de calidad.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Pero para educación y prototipado es muy util 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5800"/>
              <a:t>La solución a implementar…</a:t>
            </a:r>
            <a:endParaRPr sz="5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2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El protocolo</a:t>
            </a:r>
            <a:endParaRPr sz="4000"/>
          </a:p>
        </p:txBody>
      </p:sp>
      <p:sp>
        <p:nvSpPr>
          <p:cNvPr id="236" name="Google Shape;236;p52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LabVIEW  =&gt; VISA serial =&gt; 0x01 [pin][valor]  =&gt; ESP32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LabVIEW  &lt;=  'A' 'A'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byte de comando, sus parámetros, y siempre dos bytes de respuesta.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Eso es todo el protocolo, se mantiene lo suficientemente simple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3"/>
          <p:cNvSpPr txBox="1">
            <a:spLocks noGrp="1"/>
          </p:cNvSpPr>
          <p:nvPr>
            <p:ph type="title"/>
          </p:nvPr>
        </p:nvSpPr>
        <p:spPr>
          <a:xfrm>
            <a:off x="628200" y="107219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Cualquier placa</a:t>
            </a:r>
            <a:endParaRPr sz="4000"/>
          </a:p>
        </p:txBody>
      </p:sp>
      <p:sp>
        <p:nvSpPr>
          <p:cNvPr id="242" name="Google Shape;242;p53"/>
          <p:cNvSpPr txBox="1">
            <a:spLocks noGrp="1"/>
          </p:cNvSpPr>
          <p:nvPr>
            <p:ph type="body" idx="1"/>
          </p:nvPr>
        </p:nvSpPr>
        <p:spPr>
          <a:xfrm>
            <a:off x="628200" y="7531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firmware.ino, el protocolo se flashea UNA sola vez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lv_hal.h, barrera de abstraccion para que sepa cómo se hace esto en esta arquitectura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 · AVR · STM32 (proximamente) 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ADC siempre responde 0..4095: en AVR es de 10 bits y se escala en el firmware, no en LabVIEW.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protocolo se escribe una vez.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Cambiar de placa no cambia ni un VI.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4"/>
          <p:cNvSpPr txBox="1">
            <a:spLocks noGrp="1"/>
          </p:cNvSpPr>
          <p:nvPr>
            <p:ph type="title"/>
          </p:nvPr>
        </p:nvSpPr>
        <p:spPr>
          <a:xfrm>
            <a:off x="628650" y="172169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Cómo se extiende</a:t>
            </a:r>
            <a:endParaRPr sz="4000"/>
          </a:p>
        </p:txBody>
      </p:sp>
      <p:sp>
        <p:nvSpPr>
          <p:cNvPr id="248" name="Google Shape;248;p54"/>
          <p:cNvSpPr txBox="1">
            <a:spLocks noGrp="1"/>
          </p:cNvSpPr>
          <p:nvPr>
            <p:ph type="body" idx="1"/>
          </p:nvPr>
        </p:nvSpPr>
        <p:spPr>
          <a:xfrm>
            <a:off x="628200" y="81807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una tarjeta = 5 líneas en el catálogo de lv_core.py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una función = un case en el firmware y su VI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 trae: digital, analógico, DAC, PWM, servo, NeoPixel, LCD I2C, ESP-NOW y reportes TDMS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Open Source, esta en GitHub, proximamente en VI Package Manager.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compilar y cargar usamos arduino-cli, embebido en el proyecto.</a:t>
            </a:r>
            <a:endParaRPr sz="1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5"/>
          <p:cNvSpPr txBox="1">
            <a:spLocks noGrp="1"/>
          </p:cNvSpPr>
          <p:nvPr>
            <p:ph type="ctrTitle"/>
          </p:nvPr>
        </p:nvSpPr>
        <p:spPr>
          <a:xfrm>
            <a:off x="311701" y="744575"/>
            <a:ext cx="369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8000"/>
              <a:t>DEMO</a:t>
            </a:r>
            <a:endParaRPr sz="8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6"/>
          <p:cNvSpPr txBox="1">
            <a:spLocks noGrp="1"/>
          </p:cNvSpPr>
          <p:nvPr>
            <p:ph type="title"/>
          </p:nvPr>
        </p:nvSpPr>
        <p:spPr>
          <a:xfrm>
            <a:off x="628200" y="5304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La demo: cuatro actos</a:t>
            </a:r>
            <a:endParaRPr sz="4000"/>
          </a:p>
        </p:txBody>
      </p:sp>
      <p:sp>
        <p:nvSpPr>
          <p:cNvPr id="259" name="Google Shape;259;p56"/>
          <p:cNvSpPr txBox="1">
            <a:spLocks noGrp="1"/>
          </p:cNvSpPr>
          <p:nvPr>
            <p:ph type="body" idx="1"/>
          </p:nvPr>
        </p:nvSpPr>
        <p:spPr>
          <a:xfrm>
            <a:off x="628200" y="698950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Flashear Firmware en diferentes placas usando el mismo VI de instalación:</a:t>
            </a:r>
            <a:endParaRPr dirty="0"/>
          </a:p>
          <a:p>
            <a:pPr marL="914400" lvl="1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s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Uno </a:t>
            </a:r>
            <a:endParaRPr dirty="0"/>
          </a:p>
          <a:p>
            <a:pPr marL="914400" lvl="1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s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 Wrover IE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de Neopixeles </a:t>
            </a:r>
            <a:endParaRPr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de maquina de estados con LEDs</a:t>
            </a:r>
            <a:endParaRPr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Generador de funciones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-ES" sz="190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Demo </a:t>
            </a:r>
            <a:r>
              <a:rPr lang="es-ES" sz="1900" b="1" dirty="0" err="1">
                <a:solidFill>
                  <a:schemeClr val="dk1"/>
                </a:solidFill>
                <a:latin typeface="Arial"/>
                <a:cs typeface="Arial"/>
                <a:sym typeface="Arial"/>
              </a:rPr>
              <a:t>Analog</a:t>
            </a:r>
            <a:r>
              <a:rPr lang="es-ES" sz="1900" b="1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 input y </a:t>
            </a:r>
            <a:r>
              <a:rPr lang="es-ES" sz="1900" b="1">
                <a:solidFill>
                  <a:schemeClr val="dk1"/>
                </a:solidFill>
                <a:latin typeface="Arial"/>
                <a:cs typeface="Arial"/>
                <a:sym typeface="Arial"/>
              </a:rPr>
              <a:t>PWM Output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7000"/>
              <a:t>Preguntas &amp; </a:t>
            </a:r>
            <a:br>
              <a:rPr lang="es" sz="7000"/>
            </a:br>
            <a:r>
              <a:rPr lang="es" sz="7000"/>
              <a:t>Comentarios</a:t>
            </a:r>
            <a:endParaRPr sz="7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8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es" sz="2200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14</a:t>
            </a:fld>
            <a:endParaRPr sz="2200">
              <a:solidFill>
                <a:srgbClr val="EFEFE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70" name="Google Shape;270;p5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5708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5000"/>
              <a:t>Contacto</a:t>
            </a:r>
            <a:endParaRPr sz="5000"/>
          </a:p>
        </p:txBody>
      </p:sp>
      <p:sp>
        <p:nvSpPr>
          <p:cNvPr id="271" name="Google Shape;271;p58"/>
          <p:cNvSpPr txBox="1">
            <a:spLocks noGrp="1"/>
          </p:cNvSpPr>
          <p:nvPr>
            <p:ph type="body" idx="1"/>
          </p:nvPr>
        </p:nvSpPr>
        <p:spPr>
          <a:xfrm>
            <a:off x="121800" y="1193425"/>
            <a:ext cx="4393200" cy="29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2200" b="1"/>
              <a:t>Pablo López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2200" b="1"/>
              <a:t>IG: @usuario</a:t>
            </a:r>
            <a:endParaRPr sz="2200" b="1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es" sz="2200" b="1"/>
              <a:t>https://github.com/PabloJLM/LV_ESP32</a:t>
            </a:r>
            <a:br>
              <a:rPr lang="es" sz="2200" b="1"/>
            </a:br>
            <a:r>
              <a:rPr lang="es" sz="2200" b="1"/>
              <a:t>pablo.lopezmazariegos@galileo.edu</a:t>
            </a:r>
            <a:endParaRPr sz="2200" b="1"/>
          </a:p>
        </p:txBody>
      </p:sp>
      <p:sp>
        <p:nvSpPr>
          <p:cNvPr id="272" name="Google Shape;272;p58"/>
          <p:cNvSpPr txBox="1">
            <a:spLocks noGrp="1"/>
          </p:cNvSpPr>
          <p:nvPr>
            <p:ph type="body" idx="1"/>
          </p:nvPr>
        </p:nvSpPr>
        <p:spPr>
          <a:xfrm>
            <a:off x="4746000" y="1003900"/>
            <a:ext cx="4572000" cy="29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4900" b="1"/>
              <a:t>TESLA LAB</a:t>
            </a:r>
            <a:endParaRPr sz="44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3200"/>
              <a:t>IG: @tesla_lab_guatemala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es" sz="3000"/>
              <a:t>tesla.galileo.edu</a:t>
            </a:r>
            <a:br>
              <a:rPr lang="es" sz="3000"/>
            </a:br>
            <a:r>
              <a:rPr lang="es" sz="3000"/>
              <a:t>tesla@galileo.edu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GAL - 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UGAL - 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Presentación en pantalla (16:9)</PresentationFormat>
  <Paragraphs>100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Roboto Condensed</vt:lpstr>
      <vt:lpstr>Roboto Condensed Light</vt:lpstr>
      <vt:lpstr>Simple Light</vt:lpstr>
      <vt:lpstr>UGAL - Simple Light</vt:lpstr>
      <vt:lpstr>UGAL - Simple Light</vt:lpstr>
      <vt:lpstr>Presentación de PowerPoint</vt:lpstr>
      <vt:lpstr>AGENDA</vt:lpstr>
      <vt:lpstr>El problema a resolver…</vt:lpstr>
      <vt:lpstr>Cuánto cuesta medir</vt:lpstr>
      <vt:lpstr>Y lo mismo, en15 US$ </vt:lpstr>
      <vt:lpstr>Hasta dónde llega</vt:lpstr>
      <vt:lpstr>La solución a implementar…</vt:lpstr>
      <vt:lpstr>El protocolo</vt:lpstr>
      <vt:lpstr>Cualquier placa</vt:lpstr>
      <vt:lpstr>Cómo se extiende</vt:lpstr>
      <vt:lpstr>DEMO</vt:lpstr>
      <vt:lpstr>La demo: cuatro actos</vt:lpstr>
      <vt:lpstr>Preguntas &amp;  Comentarios</vt:lpstr>
      <vt:lpstr>Contacto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Pablo Jose L?pez Mazariegos</cp:lastModifiedBy>
  <cp:revision>1</cp:revision>
  <dcterms:modified xsi:type="dcterms:W3CDTF">2026-08-28T16:07:17Z</dcterms:modified>
</cp:coreProperties>
</file>