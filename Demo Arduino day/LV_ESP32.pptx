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9" r:id="rId4"/>
    <p:sldMasterId id="2147483690" r:id="rId5"/>
    <p:sldMasterId id="214748369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y="5143500" cx="9144000"/>
  <p:notesSz cx="6858000" cy="9144000"/>
  <p:embeddedFontLst>
    <p:embeddedFont>
      <p:font typeface="Roboto Condensed"/>
      <p:regular r:id="rId22"/>
      <p:bold r:id="rId23"/>
      <p:italic r:id="rId24"/>
      <p:boldItalic r:id="rId25"/>
    </p:embeddedFont>
    <p:embeddedFont>
      <p:font typeface="Roboto Condensed Light"/>
      <p:regular r:id="rId26"/>
      <p:bold r:id="rId27"/>
      <p:italic r:id="rId28"/>
      <p:boldItalic r:id="rId2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font" Target="fonts/RobotoCondensed-regular.fntdata"/><Relationship Id="rId21" Type="http://schemas.openxmlformats.org/officeDocument/2006/relationships/slide" Target="slides/slide14.xml"/><Relationship Id="rId24" Type="http://schemas.openxmlformats.org/officeDocument/2006/relationships/font" Target="fonts/RobotoCondensed-italic.fntdata"/><Relationship Id="rId23" Type="http://schemas.openxmlformats.org/officeDocument/2006/relationships/font" Target="fonts/RobotoCondensed-bold.fntdata"/><Relationship Id="rId1" Type="http://schemas.openxmlformats.org/officeDocument/2006/relationships/theme" Target="theme/theme4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font" Target="fonts/RobotoCondensedLight-regular.fntdata"/><Relationship Id="rId25" Type="http://schemas.openxmlformats.org/officeDocument/2006/relationships/font" Target="fonts/RobotoCondensed-boldItalic.fntdata"/><Relationship Id="rId28" Type="http://schemas.openxmlformats.org/officeDocument/2006/relationships/font" Target="fonts/RobotoCondensedLight-italic.fntdata"/><Relationship Id="rId27" Type="http://schemas.openxmlformats.org/officeDocument/2006/relationships/font" Target="fonts/RobotoCondensedLight-bold.fntdata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font" Target="fonts/RobotoCondensedLight-boldItalic.fntdata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11" Type="http://schemas.openxmlformats.org/officeDocument/2006/relationships/slide" Target="slides/slide4.xml"/><Relationship Id="rId10" Type="http://schemas.openxmlformats.org/officeDocument/2006/relationships/slide" Target="slides/slide3.xml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f40c9cfedb_2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0" name="Google Shape;180;g3f40c9cfedb_2_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f40c9cfedb_2_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6" name="Google Shape;186;g3f40c9cfedb_2_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f40c9cfedb_2_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/>
              <a:t>Descripción de Proyectos (10 minutos)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"/>
              <a:t>Descripción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"/>
              <a:t>Objetivos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"/>
              <a:t>Fase Actual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"/>
              <a:t>Aplicaciones en la Industria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"/>
              <a:t>Destacar el impacto potencial del proyecto en el sector industrial guatemalteco.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93" name="Google Shape;193;g3f40c9cfedb_2_7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f40c9cfedb_2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g3f40c9cfedb_2_8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f40c9cfedb_2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g3f40c9cfedb_2_9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f40c9cfedb_2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g3f40c9cfedb_2_10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f40c9cfedb_2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/>
              <a:t>Descripción de Proyectos (10 minutos)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"/>
              <a:t>Descripción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"/>
              <a:t>Objetivos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"/>
              <a:t>Fase Actual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"/>
              <a:t>Aplicaciones en la Industria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"/>
              <a:t>Destacar el impacto potencial del proyecto en el sector industrial guatemalteco.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28" name="Google Shape;228;g3f40c9cfedb_2_10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f40c9cfedb_2_1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g3f40c9cfedb_2_11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f40c9cfedb_2_1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g3f40c9cfedb_2_116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f40c9cfedb_2_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g3f40c9cfedb_2_12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f40c9cfedb_2_1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/>
              <a:t>Descripción de Proyectos (10 minutos)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"/>
              <a:t>Descripción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"/>
              <a:t>Objetivos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"/>
              <a:t>Fase Actual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"/>
              <a:t>Aplicaciones en la Industria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"/>
              <a:t>Destacar el impacto potencial del proyecto en el sector industrial guatemalteco.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51" name="Google Shape;251;g3f40c9cfedb_2_12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3f40c9cfedb_2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g3f40c9cfedb_2_13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3f40c9cfedb_2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/>
              <a:t>Descripción de Proyectos (10 minutos)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"/>
              <a:t>Descripción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"/>
              <a:t>Objetivos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"/>
              <a:t>Fase Actual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"/>
              <a:t>Aplicaciones en la Industria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"/>
              <a:t>Destacar el impacto potencial del proyecto en el sector industrial guatemalteco.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62" name="Google Shape;262;g3f40c9cfedb_2_13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3f8543f16b6_2_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g3f8543f16b6_2_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Roboto Condensed"/>
              <a:buNone/>
              <a:defRPr b="1" sz="5200">
                <a:latin typeface="Roboto Condensed"/>
                <a:ea typeface="Roboto Condensed"/>
                <a:cs typeface="Roboto Condensed"/>
                <a:sym typeface="Roboto Condense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61" name="Google Shape;61;p1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62" name="Google Shape;62;p14"/>
          <p:cNvSpPr txBox="1"/>
          <p:nvPr>
            <p:ph idx="12" type="sldNum"/>
          </p:nvPr>
        </p:nvSpPr>
        <p:spPr>
          <a:xfrm>
            <a:off x="86248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objetos 1" type="obj">
  <p:cSld name="OBJEC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/>
          <p:nvPr>
            <p:ph type="title"/>
          </p:nvPr>
        </p:nvSpPr>
        <p:spPr>
          <a:xfrm>
            <a:off x="628650" y="622169"/>
            <a:ext cx="7487700" cy="64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50" y="1369219"/>
            <a:ext cx="7487700" cy="30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1pPr>
            <a:lvl2pPr indent="-317500" lvl="1" marL="9144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indent="-317500" lvl="2" marL="13716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3pPr>
            <a:lvl4pPr indent="-317500" lvl="3" marL="18288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4pPr>
            <a:lvl5pPr indent="-317500" lvl="4" marL="22860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5pPr>
            <a:lvl6pPr indent="-317500" lvl="5" marL="27432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sp>
        <p:nvSpPr>
          <p:cNvPr id="66" name="Google Shape;66;p15"/>
          <p:cNvSpPr txBox="1"/>
          <p:nvPr>
            <p:ph idx="10" type="dt"/>
          </p:nvPr>
        </p:nvSpPr>
        <p:spPr>
          <a:xfrm>
            <a:off x="628650" y="4717771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7" name="Google Shape;67;p15"/>
          <p:cNvSpPr txBox="1"/>
          <p:nvPr>
            <p:ph idx="11" type="ftr"/>
          </p:nvPr>
        </p:nvSpPr>
        <p:spPr>
          <a:xfrm>
            <a:off x="3028950" y="4724841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8" name="Google Shape;68;p15"/>
          <p:cNvSpPr txBox="1"/>
          <p:nvPr>
            <p:ph idx="12" type="sldNum"/>
          </p:nvPr>
        </p:nvSpPr>
        <p:spPr>
          <a:xfrm>
            <a:off x="6457950" y="4696560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6"/>
          <p:cNvSpPr txBox="1"/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" type="body"/>
          </p:nvPr>
        </p:nvSpPr>
        <p:spPr>
          <a:xfrm>
            <a:off x="311700" y="8476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72" name="Google Shape;72;p16"/>
          <p:cNvSpPr txBox="1"/>
          <p:nvPr>
            <p:ph idx="12" type="sldNum"/>
          </p:nvPr>
        </p:nvSpPr>
        <p:spPr>
          <a:xfrm>
            <a:off x="86248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7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75" name="Google Shape;75;p17"/>
          <p:cNvSpPr txBox="1"/>
          <p:nvPr>
            <p:ph idx="12" type="sldNum"/>
          </p:nvPr>
        </p:nvSpPr>
        <p:spPr>
          <a:xfrm>
            <a:off x="86248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8"/>
          <p:cNvSpPr txBox="1"/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8" name="Google Shape;78;p18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9" name="Google Shape;79;p18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80" name="Google Shape;80;p18"/>
          <p:cNvSpPr txBox="1"/>
          <p:nvPr>
            <p:ph idx="12" type="sldNum"/>
          </p:nvPr>
        </p:nvSpPr>
        <p:spPr>
          <a:xfrm>
            <a:off x="86248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9"/>
          <p:cNvSpPr txBox="1"/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83" name="Google Shape;83;p19"/>
          <p:cNvSpPr txBox="1"/>
          <p:nvPr>
            <p:ph idx="12" type="sldNum"/>
          </p:nvPr>
        </p:nvSpPr>
        <p:spPr>
          <a:xfrm>
            <a:off x="86248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0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86" name="Google Shape;86;p20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87" name="Google Shape;87;p20"/>
          <p:cNvSpPr txBox="1"/>
          <p:nvPr>
            <p:ph idx="12" type="sldNum"/>
          </p:nvPr>
        </p:nvSpPr>
        <p:spPr>
          <a:xfrm>
            <a:off x="86248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1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90" name="Google Shape;90;p21"/>
          <p:cNvSpPr txBox="1"/>
          <p:nvPr>
            <p:ph idx="12" type="sldNum"/>
          </p:nvPr>
        </p:nvSpPr>
        <p:spPr>
          <a:xfrm>
            <a:off x="86248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2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22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94" name="Google Shape;94;p22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95" name="Google Shape;95;p22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6" name="Google Shape;96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3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99" name="Google Shape;99;p23"/>
          <p:cNvSpPr txBox="1"/>
          <p:nvPr>
            <p:ph idx="12" type="sldNum"/>
          </p:nvPr>
        </p:nvSpPr>
        <p:spPr>
          <a:xfrm>
            <a:off x="86248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4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02" name="Google Shape;102;p24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03" name="Google Shape;103;p24"/>
          <p:cNvSpPr txBox="1"/>
          <p:nvPr>
            <p:ph idx="12" type="sldNum"/>
          </p:nvPr>
        </p:nvSpPr>
        <p:spPr>
          <a:xfrm>
            <a:off x="86248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5"/>
          <p:cNvSpPr txBox="1"/>
          <p:nvPr>
            <p:ph idx="12" type="sldNum"/>
          </p:nvPr>
        </p:nvSpPr>
        <p:spPr>
          <a:xfrm>
            <a:off x="86248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otalmente blanco">
  <p:cSld name="BLANK_1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6"/>
          <p:cNvSpPr txBox="1"/>
          <p:nvPr>
            <p:ph idx="12" type="sldNum"/>
          </p:nvPr>
        </p:nvSpPr>
        <p:spPr>
          <a:xfrm>
            <a:off x="86248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  <p:sp>
        <p:nvSpPr>
          <p:cNvPr id="108" name="Google Shape;108;p26"/>
          <p:cNvSpPr/>
          <p:nvPr/>
        </p:nvSpPr>
        <p:spPr>
          <a:xfrm>
            <a:off x="0" y="4193375"/>
            <a:ext cx="8805300" cy="993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objetos">
  <p:cSld name="Título y objetos"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7"/>
          <p:cNvSpPr txBox="1"/>
          <p:nvPr>
            <p:ph idx="12" type="sldNum"/>
          </p:nvPr>
        </p:nvSpPr>
        <p:spPr>
          <a:xfrm>
            <a:off x="8632984" y="46736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chemeClr val="lt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chemeClr val="lt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chemeClr val="lt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chemeClr val="lt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chemeClr val="lt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chemeClr val="lt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chemeClr val="lt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chemeClr val="lt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chemeClr val="lt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cabezado de sección 1">
  <p:cSld name="SECTION_HEADER_1"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8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13" name="Google Shape;113;p28"/>
          <p:cNvSpPr txBox="1"/>
          <p:nvPr>
            <p:ph idx="12" type="sldNum"/>
          </p:nvPr>
        </p:nvSpPr>
        <p:spPr>
          <a:xfrm>
            <a:off x="86248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3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Roboto Condensed"/>
              <a:buNone/>
              <a:defRPr b="1" sz="5200">
                <a:latin typeface="Roboto Condensed"/>
                <a:ea typeface="Roboto Condensed"/>
                <a:cs typeface="Roboto Condensed"/>
                <a:sym typeface="Roboto Condense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25" name="Google Shape;125;p3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6" name="Google Shape;126;p30"/>
          <p:cNvSpPr txBox="1"/>
          <p:nvPr>
            <p:ph idx="12" type="sldNum"/>
          </p:nvPr>
        </p:nvSpPr>
        <p:spPr>
          <a:xfrm>
            <a:off x="86248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objetos 1" type="obj">
  <p:cSld name="OBJECT"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/>
          <p:cNvSpPr txBox="1"/>
          <p:nvPr>
            <p:ph type="title"/>
          </p:nvPr>
        </p:nvSpPr>
        <p:spPr>
          <a:xfrm>
            <a:off x="628650" y="622169"/>
            <a:ext cx="7487700" cy="64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29" name="Google Shape;129;p31"/>
          <p:cNvSpPr txBox="1"/>
          <p:nvPr>
            <p:ph idx="1" type="body"/>
          </p:nvPr>
        </p:nvSpPr>
        <p:spPr>
          <a:xfrm>
            <a:off x="628650" y="1369219"/>
            <a:ext cx="7487700" cy="30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1pPr>
            <a:lvl2pPr indent="-317500" lvl="1" marL="9144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indent="-317500" lvl="2" marL="13716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3pPr>
            <a:lvl4pPr indent="-317500" lvl="3" marL="18288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4pPr>
            <a:lvl5pPr indent="-317500" lvl="4" marL="22860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5pPr>
            <a:lvl6pPr indent="-317500" lvl="5" marL="27432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sp>
        <p:nvSpPr>
          <p:cNvPr id="130" name="Google Shape;130;p31"/>
          <p:cNvSpPr txBox="1"/>
          <p:nvPr>
            <p:ph idx="10" type="dt"/>
          </p:nvPr>
        </p:nvSpPr>
        <p:spPr>
          <a:xfrm>
            <a:off x="628650" y="4717771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1" name="Google Shape;131;p31"/>
          <p:cNvSpPr txBox="1"/>
          <p:nvPr>
            <p:ph idx="11" type="ftr"/>
          </p:nvPr>
        </p:nvSpPr>
        <p:spPr>
          <a:xfrm>
            <a:off x="3028950" y="4724841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2" name="Google Shape;132;p31"/>
          <p:cNvSpPr txBox="1"/>
          <p:nvPr>
            <p:ph idx="12" type="sldNum"/>
          </p:nvPr>
        </p:nvSpPr>
        <p:spPr>
          <a:xfrm>
            <a:off x="6457950" y="4696560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2"/>
          <p:cNvSpPr txBox="1"/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35" name="Google Shape;135;p32"/>
          <p:cNvSpPr txBox="1"/>
          <p:nvPr>
            <p:ph idx="1" type="body"/>
          </p:nvPr>
        </p:nvSpPr>
        <p:spPr>
          <a:xfrm>
            <a:off x="311700" y="8476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36" name="Google Shape;136;p32"/>
          <p:cNvSpPr txBox="1"/>
          <p:nvPr>
            <p:ph idx="12" type="sldNum"/>
          </p:nvPr>
        </p:nvSpPr>
        <p:spPr>
          <a:xfrm>
            <a:off x="86248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3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39" name="Google Shape;139;p33"/>
          <p:cNvSpPr txBox="1"/>
          <p:nvPr>
            <p:ph idx="12" type="sldNum"/>
          </p:nvPr>
        </p:nvSpPr>
        <p:spPr>
          <a:xfrm>
            <a:off x="86248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34"/>
          <p:cNvSpPr txBox="1"/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42" name="Google Shape;142;p34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43" name="Google Shape;143;p34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44" name="Google Shape;144;p34"/>
          <p:cNvSpPr txBox="1"/>
          <p:nvPr>
            <p:ph idx="12" type="sldNum"/>
          </p:nvPr>
        </p:nvSpPr>
        <p:spPr>
          <a:xfrm>
            <a:off x="86248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5"/>
          <p:cNvSpPr txBox="1"/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47" name="Google Shape;147;p35"/>
          <p:cNvSpPr txBox="1"/>
          <p:nvPr>
            <p:ph idx="12" type="sldNum"/>
          </p:nvPr>
        </p:nvSpPr>
        <p:spPr>
          <a:xfrm>
            <a:off x="86248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6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50" name="Google Shape;150;p36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51" name="Google Shape;151;p36"/>
          <p:cNvSpPr txBox="1"/>
          <p:nvPr>
            <p:ph idx="12" type="sldNum"/>
          </p:nvPr>
        </p:nvSpPr>
        <p:spPr>
          <a:xfrm>
            <a:off x="86248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37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54" name="Google Shape;154;p37"/>
          <p:cNvSpPr txBox="1"/>
          <p:nvPr>
            <p:ph idx="12" type="sldNum"/>
          </p:nvPr>
        </p:nvSpPr>
        <p:spPr>
          <a:xfrm>
            <a:off x="86248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38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38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58" name="Google Shape;158;p38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59" name="Google Shape;159;p38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60" name="Google Shape;160;p3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39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63" name="Google Shape;163;p39"/>
          <p:cNvSpPr txBox="1"/>
          <p:nvPr>
            <p:ph idx="12" type="sldNum"/>
          </p:nvPr>
        </p:nvSpPr>
        <p:spPr>
          <a:xfrm>
            <a:off x="86248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40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66" name="Google Shape;166;p40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67" name="Google Shape;167;p40"/>
          <p:cNvSpPr txBox="1"/>
          <p:nvPr>
            <p:ph idx="12" type="sldNum"/>
          </p:nvPr>
        </p:nvSpPr>
        <p:spPr>
          <a:xfrm>
            <a:off x="86248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41"/>
          <p:cNvSpPr txBox="1"/>
          <p:nvPr>
            <p:ph idx="12" type="sldNum"/>
          </p:nvPr>
        </p:nvSpPr>
        <p:spPr>
          <a:xfrm>
            <a:off x="86248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otalmente blanco">
  <p:cSld name="BLANK_1"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42"/>
          <p:cNvSpPr txBox="1"/>
          <p:nvPr>
            <p:ph idx="12" type="sldNum"/>
          </p:nvPr>
        </p:nvSpPr>
        <p:spPr>
          <a:xfrm>
            <a:off x="86248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  <p:sp>
        <p:nvSpPr>
          <p:cNvPr id="172" name="Google Shape;172;p42"/>
          <p:cNvSpPr/>
          <p:nvPr/>
        </p:nvSpPr>
        <p:spPr>
          <a:xfrm>
            <a:off x="0" y="4193375"/>
            <a:ext cx="8805300" cy="993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objetos">
  <p:cSld name="Título y objetos"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3"/>
          <p:cNvSpPr txBox="1"/>
          <p:nvPr>
            <p:ph idx="12" type="sldNum"/>
          </p:nvPr>
        </p:nvSpPr>
        <p:spPr>
          <a:xfrm>
            <a:off x="8632984" y="46736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chemeClr val="lt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chemeClr val="lt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chemeClr val="lt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chemeClr val="lt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chemeClr val="lt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chemeClr val="lt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chemeClr val="lt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chemeClr val="lt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chemeClr val="lt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cabezado de sección 1">
  <p:cSld name="SECTION_HEADER_1"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4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77" name="Google Shape;177;p44"/>
          <p:cNvSpPr txBox="1"/>
          <p:nvPr>
            <p:ph idx="12" type="sldNum"/>
          </p:nvPr>
        </p:nvSpPr>
        <p:spPr>
          <a:xfrm>
            <a:off x="86248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1.xml"/><Relationship Id="rId1" Type="http://schemas.openxmlformats.org/officeDocument/2006/relationships/image" Target="../media/image1.jpg"/><Relationship Id="rId2" Type="http://schemas.openxmlformats.org/officeDocument/2006/relationships/image" Target="../media/image9.jpg"/><Relationship Id="rId3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6.xml"/><Relationship Id="rId16" Type="http://schemas.openxmlformats.org/officeDocument/2006/relationships/slideLayout" Target="../slideLayouts/slideLayout25.xml"/><Relationship Id="rId5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5.xml"/><Relationship Id="rId18" Type="http://schemas.openxmlformats.org/officeDocument/2006/relationships/theme" Target="../theme/theme1.xml"/><Relationship Id="rId7" Type="http://schemas.openxmlformats.org/officeDocument/2006/relationships/slideLayout" Target="../slideLayouts/slideLayout16.xml"/><Relationship Id="rId8" Type="http://schemas.openxmlformats.org/officeDocument/2006/relationships/slideLayout" Target="../slideLayouts/slideLayout17.xml"/></Relationships>
</file>

<file path=ppt/slideMasters/_rels/slideMaster3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5.xml"/><Relationship Id="rId10" Type="http://schemas.openxmlformats.org/officeDocument/2006/relationships/slideLayout" Target="../slideLayouts/slideLayout34.xml"/><Relationship Id="rId13" Type="http://schemas.openxmlformats.org/officeDocument/2006/relationships/slideLayout" Target="../slideLayouts/slideLayout37.xml"/><Relationship Id="rId12" Type="http://schemas.openxmlformats.org/officeDocument/2006/relationships/slideLayout" Target="../slideLayouts/slideLayout36.xml"/><Relationship Id="rId1" Type="http://schemas.openxmlformats.org/officeDocument/2006/relationships/image" Target="../media/image1.jpg"/><Relationship Id="rId2" Type="http://schemas.openxmlformats.org/officeDocument/2006/relationships/image" Target="../media/image9.jpg"/><Relationship Id="rId3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Relationship Id="rId15" Type="http://schemas.openxmlformats.org/officeDocument/2006/relationships/slideLayout" Target="../slideLayouts/slideLayout39.xml"/><Relationship Id="rId14" Type="http://schemas.openxmlformats.org/officeDocument/2006/relationships/slideLayout" Target="../slideLayouts/slideLayout38.xml"/><Relationship Id="rId17" Type="http://schemas.openxmlformats.org/officeDocument/2006/relationships/slideLayout" Target="../slideLayouts/slideLayout41.xml"/><Relationship Id="rId16" Type="http://schemas.openxmlformats.org/officeDocument/2006/relationships/slideLayout" Target="../slideLayouts/slideLayout40.xml"/><Relationship Id="rId5" Type="http://schemas.openxmlformats.org/officeDocument/2006/relationships/slideLayout" Target="../slideLayouts/slideLayout29.xml"/><Relationship Id="rId6" Type="http://schemas.openxmlformats.org/officeDocument/2006/relationships/slideLayout" Target="../slideLayouts/slideLayout30.xml"/><Relationship Id="rId18" Type="http://schemas.openxmlformats.org/officeDocument/2006/relationships/theme" Target="../theme/theme2.xml"/><Relationship Id="rId7" Type="http://schemas.openxmlformats.org/officeDocument/2006/relationships/slideLayout" Target="../slideLayouts/slideLayout31.xml"/><Relationship Id="rId8" Type="http://schemas.openxmlformats.org/officeDocument/2006/relationships/slideLayout" Target="../slideLayouts/slideLayout3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 Condensed"/>
              <a:buNone/>
              <a:defRPr b="1" i="0" sz="2800" u="none" cap="none" strike="noStrik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8476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Condensed"/>
              <a:buChar char="●"/>
              <a:defRPr b="0" i="0" sz="1800" u="none" cap="none" strike="noStrike">
                <a:solidFill>
                  <a:schemeClr val="dk2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Condensed"/>
              <a:buChar char="○"/>
              <a:defRPr b="0" i="0" sz="1400" u="none" cap="none" strike="noStrike">
                <a:solidFill>
                  <a:schemeClr val="dk2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Condensed"/>
              <a:buChar char="■"/>
              <a:defRPr b="0" i="0" sz="1400" u="none" cap="none" strike="noStrike">
                <a:solidFill>
                  <a:schemeClr val="dk2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Condensed"/>
              <a:buChar char="●"/>
              <a:defRPr b="0" i="0" sz="1400" u="none" cap="none" strike="noStrike">
                <a:solidFill>
                  <a:schemeClr val="dk2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Condensed"/>
              <a:buChar char="○"/>
              <a:defRPr b="0" i="0" sz="1400" u="none" cap="none" strike="noStrike">
                <a:solidFill>
                  <a:schemeClr val="dk2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Condensed"/>
              <a:buChar char="■"/>
              <a:defRPr b="0" i="0" sz="1400" u="none" cap="none" strike="noStrike">
                <a:solidFill>
                  <a:schemeClr val="dk2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Condensed"/>
              <a:buChar char="●"/>
              <a:defRPr b="0" i="0" sz="1400" u="none" cap="none" strike="noStrike">
                <a:solidFill>
                  <a:schemeClr val="dk2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Condensed"/>
              <a:buChar char="○"/>
              <a:defRPr b="0" i="0" sz="1400" u="none" cap="none" strike="noStrike">
                <a:solidFill>
                  <a:schemeClr val="dk2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Roboto Condensed"/>
              <a:buChar char="■"/>
              <a:defRPr b="0" i="0" sz="1400" u="none" cap="none" strike="noStrike">
                <a:solidFill>
                  <a:schemeClr val="dk2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  <p:sp>
        <p:nvSpPr>
          <p:cNvPr id="54" name="Google Shape;54;p13"/>
          <p:cNvSpPr/>
          <p:nvPr/>
        </p:nvSpPr>
        <p:spPr>
          <a:xfrm>
            <a:off x="-7975" y="4477875"/>
            <a:ext cx="9217200" cy="700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1" sz="1800" u="none" cap="none" strike="noStrike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grpSp>
        <p:nvGrpSpPr>
          <p:cNvPr id="55" name="Google Shape;55;p13"/>
          <p:cNvGrpSpPr/>
          <p:nvPr/>
        </p:nvGrpSpPr>
        <p:grpSpPr>
          <a:xfrm>
            <a:off x="81250" y="4541638"/>
            <a:ext cx="2808811" cy="572686"/>
            <a:chOff x="5050" y="4508125"/>
            <a:chExt cx="3116400" cy="635400"/>
          </a:xfrm>
        </p:grpSpPr>
        <p:sp>
          <p:nvSpPr>
            <p:cNvPr id="56" name="Google Shape;56;p13"/>
            <p:cNvSpPr/>
            <p:nvPr/>
          </p:nvSpPr>
          <p:spPr>
            <a:xfrm>
              <a:off x="5050" y="4508125"/>
              <a:ext cx="3116400" cy="635400"/>
            </a:xfrm>
            <a:prstGeom prst="roundRect">
              <a:avLst>
                <a:gd fmla="val 16667" name="adj"/>
              </a:avLst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endParaRPr>
            </a:p>
          </p:txBody>
        </p:sp>
        <p:pic>
          <p:nvPicPr>
            <p:cNvPr id="57" name="Google Shape;57;p13"/>
            <p:cNvPicPr preferRelativeResize="0"/>
            <p:nvPr/>
          </p:nvPicPr>
          <p:blipFill rotWithShape="1">
            <a:blip r:embed="rId1">
              <a:alphaModFix/>
            </a:blip>
            <a:srcRect b="0" l="0" r="0" t="0"/>
            <a:stretch/>
          </p:blipFill>
          <p:spPr>
            <a:xfrm>
              <a:off x="86313" y="4578888"/>
              <a:ext cx="2953875" cy="49387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58" name="Google Shape;58;p13" title="Logo Galileo.jp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616493" y="4541625"/>
            <a:ext cx="1404657" cy="572699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3"/>
    <p:sldLayoutId id="2147483660" r:id="rId4"/>
    <p:sldLayoutId id="2147483661" r:id="rId5"/>
    <p:sldLayoutId id="2147483662" r:id="rId6"/>
    <p:sldLayoutId id="2147483663" r:id="rId7"/>
    <p:sldLayoutId id="2147483664" r:id="rId8"/>
    <p:sldLayoutId id="2147483665" r:id="rId9"/>
    <p:sldLayoutId id="2147483666" r:id="rId10"/>
    <p:sldLayoutId id="2147483667" r:id="rId11"/>
    <p:sldLayoutId id="2147483668" r:id="rId12"/>
    <p:sldLayoutId id="2147483669" r:id="rId13"/>
    <p:sldLayoutId id="2147483670" r:id="rId14"/>
    <p:sldLayoutId id="2147483671" r:id="rId15"/>
    <p:sldLayoutId id="2147483672" r:id="rId16"/>
    <p:sldLayoutId id="2147483673" r:id="rId1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"/>
          <p:cNvSpPr txBox="1"/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 Condensed"/>
              <a:buNone/>
              <a:defRPr b="1" i="0" sz="2800" u="none" cap="none" strike="noStrik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6" name="Google Shape;116;p29"/>
          <p:cNvSpPr txBox="1"/>
          <p:nvPr>
            <p:ph idx="1" type="body"/>
          </p:nvPr>
        </p:nvSpPr>
        <p:spPr>
          <a:xfrm>
            <a:off x="311700" y="8476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Condensed"/>
              <a:buChar char="●"/>
              <a:defRPr b="0" i="0" sz="1800" u="none" cap="none" strike="noStrike">
                <a:solidFill>
                  <a:schemeClr val="dk2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Condensed"/>
              <a:buChar char="○"/>
              <a:defRPr b="0" i="0" sz="1400" u="none" cap="none" strike="noStrike">
                <a:solidFill>
                  <a:schemeClr val="dk2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Condensed"/>
              <a:buChar char="■"/>
              <a:defRPr b="0" i="0" sz="1400" u="none" cap="none" strike="noStrike">
                <a:solidFill>
                  <a:schemeClr val="dk2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Condensed"/>
              <a:buChar char="●"/>
              <a:defRPr b="0" i="0" sz="1400" u="none" cap="none" strike="noStrike">
                <a:solidFill>
                  <a:schemeClr val="dk2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Condensed"/>
              <a:buChar char="○"/>
              <a:defRPr b="0" i="0" sz="1400" u="none" cap="none" strike="noStrike">
                <a:solidFill>
                  <a:schemeClr val="dk2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Condensed"/>
              <a:buChar char="■"/>
              <a:defRPr b="0" i="0" sz="1400" u="none" cap="none" strike="noStrike">
                <a:solidFill>
                  <a:schemeClr val="dk2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Condensed"/>
              <a:buChar char="●"/>
              <a:defRPr b="0" i="0" sz="1400" u="none" cap="none" strike="noStrike">
                <a:solidFill>
                  <a:schemeClr val="dk2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Condensed"/>
              <a:buChar char="○"/>
              <a:defRPr b="0" i="0" sz="1400" u="none" cap="none" strike="noStrike">
                <a:solidFill>
                  <a:schemeClr val="dk2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Roboto Condensed"/>
              <a:buChar char="■"/>
              <a:defRPr b="0" i="0" sz="1400" u="none" cap="none" strike="noStrike">
                <a:solidFill>
                  <a:schemeClr val="dk2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9pPr>
          </a:lstStyle>
          <a:p/>
        </p:txBody>
      </p:sp>
      <p:sp>
        <p:nvSpPr>
          <p:cNvPr id="117" name="Google Shape;117;p2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200" u="none" cap="none" strike="noStrike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  <p:sp>
        <p:nvSpPr>
          <p:cNvPr id="118" name="Google Shape;118;p29"/>
          <p:cNvSpPr/>
          <p:nvPr/>
        </p:nvSpPr>
        <p:spPr>
          <a:xfrm>
            <a:off x="-7975" y="4477875"/>
            <a:ext cx="9217200" cy="700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1" sz="1800" u="none" cap="none" strike="noStrike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grpSp>
        <p:nvGrpSpPr>
          <p:cNvPr id="119" name="Google Shape;119;p29"/>
          <p:cNvGrpSpPr/>
          <p:nvPr/>
        </p:nvGrpSpPr>
        <p:grpSpPr>
          <a:xfrm>
            <a:off x="81250" y="4541638"/>
            <a:ext cx="2808811" cy="572686"/>
            <a:chOff x="5050" y="4508125"/>
            <a:chExt cx="3116400" cy="635400"/>
          </a:xfrm>
        </p:grpSpPr>
        <p:sp>
          <p:nvSpPr>
            <p:cNvPr id="120" name="Google Shape;120;p29"/>
            <p:cNvSpPr/>
            <p:nvPr/>
          </p:nvSpPr>
          <p:spPr>
            <a:xfrm>
              <a:off x="5050" y="4508125"/>
              <a:ext cx="3116400" cy="635400"/>
            </a:xfrm>
            <a:prstGeom prst="roundRect">
              <a:avLst>
                <a:gd fmla="val 16667" name="adj"/>
              </a:avLst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endParaRPr>
            </a:p>
          </p:txBody>
        </p:sp>
        <p:pic>
          <p:nvPicPr>
            <p:cNvPr id="121" name="Google Shape;121;p29"/>
            <p:cNvPicPr preferRelativeResize="0"/>
            <p:nvPr/>
          </p:nvPicPr>
          <p:blipFill rotWithShape="1">
            <a:blip r:embed="rId1">
              <a:alphaModFix/>
            </a:blip>
            <a:srcRect b="0" l="0" r="0" t="0"/>
            <a:stretch/>
          </p:blipFill>
          <p:spPr>
            <a:xfrm>
              <a:off x="86313" y="4578888"/>
              <a:ext cx="2953875" cy="49387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122" name="Google Shape;122;p29" title="Logo Galileo.jp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616493" y="4541625"/>
            <a:ext cx="1404657" cy="572699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  <p:sldLayoutId id="2147483687" r:id="rId16"/>
    <p:sldLayoutId id="2147483688" r:id="rId1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416898" y="3008725"/>
            <a:ext cx="4310200" cy="84605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45"/>
          <p:cNvSpPr txBox="1"/>
          <p:nvPr/>
        </p:nvSpPr>
        <p:spPr>
          <a:xfrm>
            <a:off x="832800" y="289325"/>
            <a:ext cx="7478400" cy="270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100"/>
              <a:buFont typeface="Arial"/>
              <a:buNone/>
            </a:pPr>
            <a:r>
              <a:rPr b="1" i="0" lang="es" sz="4100" u="none" cap="none" strike="noStrike">
                <a:solidFill>
                  <a:schemeClr val="dk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Arduino + Labview = Instrumentación virtual Low cost</a:t>
            </a:r>
            <a:br>
              <a:rPr b="1" i="0" lang="es" sz="4100" u="none" cap="none" strike="noStrike">
                <a:solidFill>
                  <a:schemeClr val="dk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br>
              <a:rPr b="1" i="0" lang="es" sz="4100" u="none" cap="none" strike="noStrike">
                <a:solidFill>
                  <a:schemeClr val="dk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b="1" i="0" lang="es" sz="4100" u="none" cap="none" strike="noStrike">
                <a:solidFill>
                  <a:schemeClr val="dk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Pablo López</a:t>
            </a:r>
            <a:endParaRPr b="1" i="0" sz="4100" u="none" cap="none" strike="noStrike">
              <a:solidFill>
                <a:schemeClr val="dk2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46"/>
          <p:cNvSpPr txBox="1"/>
          <p:nvPr>
            <p:ph type="title"/>
          </p:nvPr>
        </p:nvSpPr>
        <p:spPr>
          <a:xfrm>
            <a:off x="628650" y="410394"/>
            <a:ext cx="7487700" cy="64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" sz="6000"/>
              <a:t>AGENDA</a:t>
            </a:r>
            <a:endParaRPr sz="6000"/>
          </a:p>
        </p:txBody>
      </p:sp>
      <p:sp>
        <p:nvSpPr>
          <p:cNvPr id="189" name="Google Shape;189;p46"/>
          <p:cNvSpPr txBox="1"/>
          <p:nvPr>
            <p:ph idx="1" type="body"/>
          </p:nvPr>
        </p:nvSpPr>
        <p:spPr>
          <a:xfrm>
            <a:off x="628650" y="1369225"/>
            <a:ext cx="7887600" cy="30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431800" lvl="0" marL="4572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3200"/>
              <a:buFont typeface="Arial"/>
              <a:buChar char="●"/>
            </a:pPr>
            <a:r>
              <a:rPr b="1" lang="es"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El problema a resolver…</a:t>
            </a:r>
            <a:endParaRPr b="1" sz="3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31800" lvl="0" marL="4572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●"/>
            </a:pPr>
            <a:r>
              <a:rPr b="1" lang="es"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La solución a implementar…</a:t>
            </a:r>
            <a:endParaRPr b="1" sz="3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31800" lvl="0" marL="4572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●"/>
            </a:pPr>
            <a:r>
              <a:rPr b="1" lang="es"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DEMO</a:t>
            </a:r>
            <a:endParaRPr b="1" sz="3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31800" lvl="0" marL="4572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●"/>
            </a:pPr>
            <a:r>
              <a:rPr b="1" lang="es"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Preguntas &amp; Comentarios</a:t>
            </a:r>
            <a:endParaRPr b="1" sz="3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46"/>
          <p:cNvSpPr txBox="1"/>
          <p:nvPr>
            <p:ph idx="12" type="sldNum"/>
          </p:nvPr>
        </p:nvSpPr>
        <p:spPr>
          <a:xfrm>
            <a:off x="6457950" y="4696560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47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es" sz="6600"/>
              <a:t>El problema a resolver…</a:t>
            </a:r>
            <a:endParaRPr sz="6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48"/>
          <p:cNvSpPr txBox="1"/>
          <p:nvPr>
            <p:ph type="title"/>
          </p:nvPr>
        </p:nvSpPr>
        <p:spPr>
          <a:xfrm>
            <a:off x="628650" y="410394"/>
            <a:ext cx="7487700" cy="64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" sz="4000"/>
              <a:t>Cuánto cuesta medir</a:t>
            </a:r>
            <a:endParaRPr sz="4000"/>
          </a:p>
        </p:txBody>
      </p:sp>
      <p:sp>
        <p:nvSpPr>
          <p:cNvPr id="201" name="Google Shape;201;p48"/>
          <p:cNvSpPr txBox="1"/>
          <p:nvPr/>
        </p:nvSpPr>
        <p:spPr>
          <a:xfrm>
            <a:off x="628650" y="3330000"/>
            <a:ext cx="3700000" cy="4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Osciloscopio de mesa</a:t>
            </a:r>
            <a:endParaRPr/>
          </a:p>
        </p:txBody>
      </p:sp>
      <p:sp>
        <p:nvSpPr>
          <p:cNvPr id="202" name="Google Shape;202;p48"/>
          <p:cNvSpPr txBox="1"/>
          <p:nvPr/>
        </p:nvSpPr>
        <p:spPr>
          <a:xfrm>
            <a:off x="628650" y="3800000"/>
            <a:ext cx="3700000" cy="5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200 – 400 US$ </a:t>
            </a:r>
            <a:endParaRPr b="1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48"/>
          <p:cNvSpPr txBox="1"/>
          <p:nvPr/>
        </p:nvSpPr>
        <p:spPr>
          <a:xfrm>
            <a:off x="4815350" y="3330000"/>
            <a:ext cx="3700000" cy="4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Generador de funciones</a:t>
            </a:r>
            <a:endParaRPr/>
          </a:p>
        </p:txBody>
      </p:sp>
      <p:sp>
        <p:nvSpPr>
          <p:cNvPr id="204" name="Google Shape;204;p48"/>
          <p:cNvSpPr txBox="1"/>
          <p:nvPr/>
        </p:nvSpPr>
        <p:spPr>
          <a:xfrm>
            <a:off x="4815350" y="3800000"/>
            <a:ext cx="3700000" cy="5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100 – 300 US$ </a:t>
            </a:r>
            <a:endParaRPr b="1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5" name="Google Shape;205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49" y="1180000"/>
            <a:ext cx="3201217" cy="215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4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28650" y="1372013"/>
            <a:ext cx="4382779" cy="19579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49"/>
          <p:cNvSpPr txBox="1"/>
          <p:nvPr>
            <p:ph type="title"/>
          </p:nvPr>
        </p:nvSpPr>
        <p:spPr>
          <a:xfrm>
            <a:off x="628650" y="410394"/>
            <a:ext cx="7487700" cy="64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" sz="4000"/>
              <a:t>Y lo mismo, en15 </a:t>
            </a:r>
            <a:r>
              <a:rPr lang="es" sz="4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US$ </a:t>
            </a:r>
            <a:endParaRPr sz="4000"/>
          </a:p>
        </p:txBody>
      </p:sp>
      <p:sp>
        <p:nvSpPr>
          <p:cNvPr id="212" name="Google Shape;212;p49"/>
          <p:cNvSpPr txBox="1"/>
          <p:nvPr/>
        </p:nvSpPr>
        <p:spPr>
          <a:xfrm>
            <a:off x="628650" y="3330000"/>
            <a:ext cx="3700000" cy="4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DAQ de 8 canales</a:t>
            </a:r>
            <a:endParaRPr/>
          </a:p>
        </p:txBody>
      </p:sp>
      <p:sp>
        <p:nvSpPr>
          <p:cNvPr id="213" name="Google Shape;213;p49"/>
          <p:cNvSpPr txBox="1"/>
          <p:nvPr/>
        </p:nvSpPr>
        <p:spPr>
          <a:xfrm>
            <a:off x="628650" y="3800000"/>
            <a:ext cx="3700000" cy="5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100 – 300 US$</a:t>
            </a:r>
            <a:endParaRPr/>
          </a:p>
        </p:txBody>
      </p:sp>
      <p:sp>
        <p:nvSpPr>
          <p:cNvPr id="214" name="Google Shape;214;p49"/>
          <p:cNvSpPr txBox="1"/>
          <p:nvPr/>
        </p:nvSpPr>
        <p:spPr>
          <a:xfrm>
            <a:off x="4815350" y="3330000"/>
            <a:ext cx="3700000" cy="4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ESP32 + protoboard + sensores</a:t>
            </a:r>
            <a:endParaRPr/>
          </a:p>
        </p:txBody>
      </p:sp>
      <p:sp>
        <p:nvSpPr>
          <p:cNvPr id="215" name="Google Shape;215;p49"/>
          <p:cNvSpPr txBox="1"/>
          <p:nvPr/>
        </p:nvSpPr>
        <p:spPr>
          <a:xfrm>
            <a:off x="4815350" y="3800000"/>
            <a:ext cx="3700000" cy="5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10 – 15 US$ </a:t>
            </a:r>
            <a:endParaRPr b="1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6" name="Google Shape;216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1198" y="1343500"/>
            <a:ext cx="3976925" cy="1627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4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15350" y="1243339"/>
            <a:ext cx="3514375" cy="1827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50"/>
          <p:cNvSpPr txBox="1"/>
          <p:nvPr>
            <p:ph type="title"/>
          </p:nvPr>
        </p:nvSpPr>
        <p:spPr>
          <a:xfrm>
            <a:off x="628650" y="410394"/>
            <a:ext cx="7487700" cy="64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" sz="4000"/>
              <a:t>Hasta dónde llega</a:t>
            </a:r>
            <a:endParaRPr sz="4000"/>
          </a:p>
        </p:txBody>
      </p:sp>
      <p:sp>
        <p:nvSpPr>
          <p:cNvPr id="223" name="Google Shape;223;p50"/>
          <p:cNvSpPr txBox="1"/>
          <p:nvPr/>
        </p:nvSpPr>
        <p:spPr>
          <a:xfrm>
            <a:off x="628650" y="1150000"/>
            <a:ext cx="3700000" cy="2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s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Nos sirve muy bien, para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1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Señales lentas: temperatura, luz, presión, posición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Enseñar adquisición y control sin comprar un laboratorio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Prototipos y pruebas de concepto</a:t>
            </a:r>
            <a:endParaRPr/>
          </a:p>
        </p:txBody>
      </p:sp>
      <p:sp>
        <p:nvSpPr>
          <p:cNvPr id="224" name="Google Shape;224;p50"/>
          <p:cNvSpPr txBox="1"/>
          <p:nvPr/>
        </p:nvSpPr>
        <p:spPr>
          <a:xfrm>
            <a:off x="4815350" y="1150000"/>
            <a:ext cx="3700000" cy="2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s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 sustituye a un equipo real en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1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Audio, vibración o cualquier señal rápida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Medición de precisión, trazable o certificada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El ADC del ESP32 no es lineal y es propenso a ruidos: hay que calibrarlo</a:t>
            </a:r>
            <a:endParaRPr/>
          </a:p>
        </p:txBody>
      </p:sp>
      <p:sp>
        <p:nvSpPr>
          <p:cNvPr id="225" name="Google Shape;225;p50"/>
          <p:cNvSpPr txBox="1"/>
          <p:nvPr/>
        </p:nvSpPr>
        <p:spPr>
          <a:xfrm>
            <a:off x="628650" y="3280000"/>
            <a:ext cx="7886700" cy="5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Nunca va a ser un osciloscopio de calidad.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Pero para educación y prototipado es muy util 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51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es" sz="5800"/>
              <a:t>La solución a implementar…</a:t>
            </a:r>
            <a:endParaRPr sz="58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52"/>
          <p:cNvSpPr txBox="1"/>
          <p:nvPr>
            <p:ph type="title"/>
          </p:nvPr>
        </p:nvSpPr>
        <p:spPr>
          <a:xfrm>
            <a:off x="628650" y="410394"/>
            <a:ext cx="7487700" cy="64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" sz="4000"/>
              <a:t>El protocolo</a:t>
            </a:r>
            <a:endParaRPr sz="4000"/>
          </a:p>
        </p:txBody>
      </p:sp>
      <p:sp>
        <p:nvSpPr>
          <p:cNvPr id="236" name="Google Shape;236;p52"/>
          <p:cNvSpPr txBox="1"/>
          <p:nvPr>
            <p:ph idx="1" type="body"/>
          </p:nvPr>
        </p:nvSpPr>
        <p:spPr>
          <a:xfrm>
            <a:off x="628650" y="1369225"/>
            <a:ext cx="7887600" cy="30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431800" lvl="0" marL="4572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●"/>
            </a:pPr>
            <a:r>
              <a:rPr b="1" lang="e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LabVIEW  =&gt; VISA serial =&gt; 0x01 [pin][valor]  =&gt; ESP32</a:t>
            </a:r>
            <a:endParaRPr b="1"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31800" lvl="0" marL="4572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●"/>
            </a:pPr>
            <a:r>
              <a:rPr b="1" lang="e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LabVIEW  &lt;=  'A' 'A'</a:t>
            </a:r>
            <a:endParaRPr b="1"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31800" lvl="0" marL="4572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●"/>
            </a:pPr>
            <a:r>
              <a:rPr b="1" lang="e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Un byte de comando, sus parámetros, y siempre dos bytes de respuesta.</a:t>
            </a:r>
            <a:endParaRPr b="1"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b="1" lang="e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Eso es todo el protocolo, se mantiene lo suficientemente simple</a:t>
            </a:r>
            <a:endParaRPr b="1"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53"/>
          <p:cNvSpPr txBox="1"/>
          <p:nvPr>
            <p:ph type="title"/>
          </p:nvPr>
        </p:nvSpPr>
        <p:spPr>
          <a:xfrm>
            <a:off x="628200" y="107219"/>
            <a:ext cx="7487700" cy="64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" sz="4000"/>
              <a:t>Cualquier placa</a:t>
            </a:r>
            <a:endParaRPr sz="4000"/>
          </a:p>
        </p:txBody>
      </p:sp>
      <p:sp>
        <p:nvSpPr>
          <p:cNvPr id="242" name="Google Shape;242;p53"/>
          <p:cNvSpPr txBox="1"/>
          <p:nvPr>
            <p:ph idx="1" type="body"/>
          </p:nvPr>
        </p:nvSpPr>
        <p:spPr>
          <a:xfrm>
            <a:off x="628200" y="753125"/>
            <a:ext cx="7887600" cy="30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431800" lvl="0" marL="4572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●"/>
            </a:pPr>
            <a:r>
              <a:rPr b="1" lang="es" sz="1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firmware.ino, el protocolo se flashea UNA sola vez</a:t>
            </a:r>
            <a:endParaRPr b="1" sz="1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31800" lvl="0" marL="4572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●"/>
            </a:pPr>
            <a:r>
              <a:rPr b="1" lang="es" sz="1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lv_hal.h, barrera de abstraccion para que sepa cómo se hace esto en esta arquitectura</a:t>
            </a:r>
            <a:endParaRPr b="1" sz="1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31800" lvl="0" marL="4572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●"/>
            </a:pPr>
            <a:r>
              <a:rPr b="1" lang="es" sz="1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ESP32 · AVR · STM32 (proximamente) </a:t>
            </a:r>
            <a:endParaRPr b="1" sz="1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31800" lvl="0" marL="4572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●"/>
            </a:pPr>
            <a:r>
              <a:rPr b="1" lang="es" sz="1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El ADC siempre responde 0..4095: en AVR es de 10 bits y se escala en el firmware, no en LabVIEW.</a:t>
            </a:r>
            <a:endParaRPr b="1" sz="1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b="1" lang="es" sz="1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El protocolo se escribe una vez.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b="1" lang="es" sz="1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Cambiar de placa no cambia ni un VI.</a:t>
            </a:r>
            <a:endParaRPr b="1" sz="1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54"/>
          <p:cNvSpPr txBox="1"/>
          <p:nvPr>
            <p:ph type="title"/>
          </p:nvPr>
        </p:nvSpPr>
        <p:spPr>
          <a:xfrm>
            <a:off x="628650" y="172169"/>
            <a:ext cx="7487700" cy="64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" sz="4000"/>
              <a:t>Cómo se extiende</a:t>
            </a:r>
            <a:endParaRPr sz="4000"/>
          </a:p>
        </p:txBody>
      </p:sp>
      <p:sp>
        <p:nvSpPr>
          <p:cNvPr id="248" name="Google Shape;248;p54"/>
          <p:cNvSpPr txBox="1"/>
          <p:nvPr>
            <p:ph idx="1" type="body"/>
          </p:nvPr>
        </p:nvSpPr>
        <p:spPr>
          <a:xfrm>
            <a:off x="628200" y="818075"/>
            <a:ext cx="7887600" cy="30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431800" lvl="0" marL="4572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●"/>
            </a:pPr>
            <a:r>
              <a:rPr b="1" lang="es" sz="1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Agregar una tarjeta = 5 líneas en el catálogo de lv_core.py</a:t>
            </a:r>
            <a:endParaRPr b="1" sz="1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31800" lvl="0" marL="4572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●"/>
            </a:pPr>
            <a:r>
              <a:rPr b="1" lang="es" sz="1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Agregar una función = un case en el firmware y su VI</a:t>
            </a:r>
            <a:endParaRPr b="1" sz="1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31800" lvl="0" marL="4572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●"/>
            </a:pPr>
            <a:r>
              <a:rPr b="1" lang="es" sz="1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Ya trae: digital, analógico, DAC, PWM, servo, NeoPixel, LCD I2C, ESP-NOW y reportes TDMS</a:t>
            </a:r>
            <a:endParaRPr b="1" sz="1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31800" lvl="0" marL="4572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●"/>
            </a:pPr>
            <a:r>
              <a:rPr b="1" lang="es" sz="1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Es Open Source, esta en GitHub, proximamente en VI Package Manager.</a:t>
            </a:r>
            <a:endParaRPr b="1" sz="1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b="1" lang="es" sz="1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Para compilar y cargar usamos arduino-cli, embebido en el proyecto.</a:t>
            </a:r>
            <a:endParaRPr b="1" sz="1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55"/>
          <p:cNvSpPr txBox="1"/>
          <p:nvPr>
            <p:ph type="ctrTitle"/>
          </p:nvPr>
        </p:nvSpPr>
        <p:spPr>
          <a:xfrm>
            <a:off x="311701" y="744575"/>
            <a:ext cx="369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es" sz="8000"/>
              <a:t>DEMO</a:t>
            </a:r>
            <a:endParaRPr sz="8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56"/>
          <p:cNvSpPr txBox="1"/>
          <p:nvPr>
            <p:ph type="title"/>
          </p:nvPr>
        </p:nvSpPr>
        <p:spPr>
          <a:xfrm>
            <a:off x="628200" y="53044"/>
            <a:ext cx="7487700" cy="64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" sz="4000"/>
              <a:t>La demo: cuatro actos</a:t>
            </a:r>
            <a:endParaRPr sz="4000"/>
          </a:p>
        </p:txBody>
      </p:sp>
      <p:sp>
        <p:nvSpPr>
          <p:cNvPr id="259" name="Google Shape;259;p56"/>
          <p:cNvSpPr txBox="1"/>
          <p:nvPr>
            <p:ph idx="1" type="body"/>
          </p:nvPr>
        </p:nvSpPr>
        <p:spPr>
          <a:xfrm>
            <a:off x="628200" y="698950"/>
            <a:ext cx="7887600" cy="30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431800" lvl="0" marL="4572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●"/>
            </a:pPr>
            <a:r>
              <a:rPr b="1" lang="es" sz="1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Flashear Firmware en diferentes placas usando el mismo VI de instalación:</a:t>
            </a:r>
            <a:endParaRPr/>
          </a:p>
          <a:p>
            <a:pPr indent="-431800" lvl="1" marL="9144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3200"/>
              <a:buFont typeface="Arial"/>
              <a:buChar char="●"/>
            </a:pPr>
            <a:r>
              <a:rPr b="1" lang="es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Arduino Uno</a:t>
            </a:r>
            <a:r>
              <a:rPr lang="es"/>
              <a:t>, </a:t>
            </a:r>
            <a:r>
              <a:rPr b="1" lang="es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Arduino Nano </a:t>
            </a:r>
            <a:endParaRPr/>
          </a:p>
          <a:p>
            <a:pPr indent="-431800" lvl="1" marL="9144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3200"/>
              <a:buFont typeface="Arial"/>
              <a:buChar char="●"/>
            </a:pPr>
            <a:r>
              <a:rPr b="1" lang="es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ESP32 Wrover IE</a:t>
            </a:r>
            <a:endParaRPr b="1" sz="1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31800" lvl="0" marL="4572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●"/>
            </a:pPr>
            <a:r>
              <a:rPr b="1" lang="es" sz="1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Demo de Neopixeles </a:t>
            </a:r>
            <a:endParaRPr/>
          </a:p>
          <a:p>
            <a:pPr indent="-431800" lvl="0" marL="4572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●"/>
            </a:pPr>
            <a:r>
              <a:rPr b="1" lang="es" sz="1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Demo de maquina de estados con LEDs y Servo</a:t>
            </a:r>
            <a:endParaRPr/>
          </a:p>
          <a:p>
            <a:pPr indent="-431800" lvl="0" marL="4572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●"/>
            </a:pPr>
            <a:r>
              <a:rPr b="1" lang="es" sz="1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Demo Osciloscopio y Generador 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b="1" sz="1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4572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b="1" sz="1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57"/>
          <p:cNvSpPr txBox="1"/>
          <p:nvPr>
            <p:ph type="ctrTitle"/>
          </p:nvPr>
        </p:nvSpPr>
        <p:spPr>
          <a:xfrm>
            <a:off x="311700" y="744575"/>
            <a:ext cx="8520600" cy="2538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es" sz="7000"/>
              <a:t>Preguntas &amp; </a:t>
            </a:r>
            <a:br>
              <a:rPr lang="es" sz="7000"/>
            </a:br>
            <a:r>
              <a:rPr lang="es" sz="7000"/>
              <a:t>Comentarios</a:t>
            </a:r>
            <a:endParaRPr sz="70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58"/>
          <p:cNvSpPr txBox="1"/>
          <p:nvPr>
            <p:ph idx="12" type="sldNum"/>
          </p:nvPr>
        </p:nvSpPr>
        <p:spPr>
          <a:xfrm>
            <a:off x="86248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fld id="{00000000-1234-1234-1234-123412341234}" type="slidenum">
              <a:rPr lang="es" sz="2200">
                <a:solidFill>
                  <a:srgbClr val="EFEFEF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rPr>
              <a:t>‹#›</a:t>
            </a:fld>
            <a:endParaRPr sz="2200">
              <a:solidFill>
                <a:srgbClr val="EFEFEF"/>
              </a:solidFill>
              <a:latin typeface="Roboto Condensed Light"/>
              <a:ea typeface="Roboto Condensed Light"/>
              <a:cs typeface="Roboto Condensed Light"/>
              <a:sym typeface="Roboto Condensed Light"/>
            </a:endParaRPr>
          </a:p>
        </p:txBody>
      </p:sp>
      <p:sp>
        <p:nvSpPr>
          <p:cNvPr id="270" name="Google Shape;270;p58"/>
          <p:cNvSpPr txBox="1"/>
          <p:nvPr>
            <p:ph type="title"/>
          </p:nvPr>
        </p:nvSpPr>
        <p:spPr>
          <a:xfrm>
            <a:off x="311700" y="216425"/>
            <a:ext cx="57087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s" sz="5000"/>
              <a:t>Contacto</a:t>
            </a:r>
            <a:endParaRPr sz="5000"/>
          </a:p>
        </p:txBody>
      </p:sp>
      <p:sp>
        <p:nvSpPr>
          <p:cNvPr id="271" name="Google Shape;271;p58"/>
          <p:cNvSpPr txBox="1"/>
          <p:nvPr>
            <p:ph idx="1" type="body"/>
          </p:nvPr>
        </p:nvSpPr>
        <p:spPr>
          <a:xfrm>
            <a:off x="121800" y="1193425"/>
            <a:ext cx="4393200" cy="292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1" lang="es" sz="2200"/>
              <a:t>Pablo López</a:t>
            </a:r>
            <a:endParaRPr sz="2200"/>
          </a:p>
          <a:p>
            <a:pPr indent="0" lvl="0" marL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800"/>
              <a:buNone/>
            </a:pPr>
            <a:r>
              <a:rPr b="1" lang="es" sz="2200"/>
              <a:t>IG: @usuario</a:t>
            </a:r>
            <a:endParaRPr b="1" sz="2200"/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SzPts val="1800"/>
              <a:buNone/>
            </a:pPr>
            <a:r>
              <a:rPr b="1" lang="es" sz="2200"/>
              <a:t>https://github.com/PabloJLM/LV_ESP32</a:t>
            </a:r>
            <a:br>
              <a:rPr b="1" lang="es" sz="2200"/>
            </a:br>
            <a:r>
              <a:rPr b="1" lang="es" sz="2200"/>
              <a:t>pablo.lopezmazariegos@galileo.edu</a:t>
            </a:r>
            <a:endParaRPr b="1" sz="2200"/>
          </a:p>
        </p:txBody>
      </p:sp>
      <p:sp>
        <p:nvSpPr>
          <p:cNvPr id="272" name="Google Shape;272;p58"/>
          <p:cNvSpPr txBox="1"/>
          <p:nvPr>
            <p:ph idx="1" type="body"/>
          </p:nvPr>
        </p:nvSpPr>
        <p:spPr>
          <a:xfrm>
            <a:off x="4746000" y="1003900"/>
            <a:ext cx="4572000" cy="292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b="1" lang="es" sz="4900"/>
              <a:t>TESLA LAB</a:t>
            </a:r>
            <a:endParaRPr sz="4400"/>
          </a:p>
          <a:p>
            <a:pPr indent="0" lvl="0" marL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800"/>
              <a:buNone/>
            </a:pPr>
            <a:r>
              <a:rPr lang="es" sz="3200"/>
              <a:t>IG: @tesla_lab_guatemala</a:t>
            </a:r>
            <a:endParaRPr sz="3200"/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SzPts val="1800"/>
              <a:buNone/>
            </a:pPr>
            <a:r>
              <a:rPr lang="es" sz="3000"/>
              <a:t>tesla.galileo.edu</a:t>
            </a:r>
            <a:br>
              <a:rPr lang="es" sz="3000"/>
            </a:br>
            <a:r>
              <a:rPr lang="es" sz="3000"/>
              <a:t>tesla@galileo.edu</a:t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UGAL - 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UGAL - 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